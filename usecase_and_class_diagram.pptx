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3" r:id="rId5"/>
    <p:sldId id="269" r:id="rId6"/>
    <p:sldId id="264" r:id="rId7"/>
    <p:sldId id="274" r:id="rId8"/>
    <p:sldId id="283" r:id="rId9"/>
    <p:sldId id="270" r:id="rId10"/>
    <p:sldId id="271" r:id="rId11"/>
    <p:sldId id="272" r:id="rId12"/>
    <p:sldId id="273" r:id="rId13"/>
    <p:sldId id="275" r:id="rId14"/>
    <p:sldId id="276" r:id="rId15"/>
    <p:sldId id="278" r:id="rId16"/>
    <p:sldId id="279" r:id="rId17"/>
    <p:sldId id="280" r:id="rId18"/>
    <p:sldId id="281" r:id="rId19"/>
    <p:sldId id="282" r:id="rId20"/>
    <p:sldId id="277" r:id="rId21"/>
    <p:sldId id="26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68FF"/>
    <a:srgbClr val="EEF2F9"/>
    <a:srgbClr val="002570"/>
    <a:srgbClr val="001641"/>
    <a:srgbClr val="000000"/>
    <a:srgbClr val="4858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89" d="100"/>
          <a:sy n="89" d="100"/>
        </p:scale>
        <p:origin x="17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273F6-39E4-45D7-93DF-B485FC3F50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FCAC3C-0C01-4471-9A06-AACDC4475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203C0-BEC5-410B-98C1-85106115F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B6866-96C8-4271-ABEC-F2734DEFA62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3237A-F2CC-4872-A054-106BE2A71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518D8-1B37-414D-939B-DFA7566AD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C8D00-9FA7-48FD-A160-84D2A5FD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5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5CE40-6703-4040-B555-32F455B91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931C6-F12A-41C9-A70C-9EF5690F8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CBB1F0-8F80-462F-BB14-E0E24B30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B6866-96C8-4271-ABEC-F2734DEFA62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7DB63-04E6-4CFC-A082-C279B20A4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6E372-2A27-471D-B2F2-26BE0A6C5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C8D00-9FA7-48FD-A160-84D2A5FD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549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32C58-593F-433C-9975-F125BF130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46B245-FE07-4778-BA77-61BFFDDE30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3D8B8-933E-40FE-8880-3A610BDB3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B6866-96C8-4271-ABEC-F2734DEFA62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BEC36F-A351-43C6-997D-CCC4F36EC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0ED59-D437-44D9-A379-D8985041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C8D00-9FA7-48FD-A160-84D2A5FD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00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431EB-9F5E-4E0C-9B24-F8D27D15E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5D0C0-0766-4125-8C64-03103719F5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35E75-D6B9-4C32-8D09-4ACAA2BA5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7AEF7-4237-4219-8939-470E7C7DB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B6866-96C8-4271-ABEC-F2734DEFA62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C69DC-4811-4B11-AF34-DF5E8F8E3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457470-0C54-45F4-B6E9-F510DA9C3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C8D00-9FA7-48FD-A160-84D2A5FD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732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3E61C-1CA6-4F38-8EA1-D21094BEE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85E4B-3614-4155-956B-0EDB18B1B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8B04E9-60F5-4A61-822A-6C36A5119E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0384E3-9105-48FF-BEF6-893DB826E5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8ACB2-E6B6-49A9-81A8-29B87DE19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45469E-2D93-4CA4-B8BF-B2A35F0FF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B6866-96C8-4271-ABEC-F2734DEFA62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7B831B-B2D1-4110-ADED-3336C6E6F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993248-B903-4864-8C83-A68BA18B1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C8D00-9FA7-48FD-A160-84D2A5FD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229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AE40E-B469-4698-B107-9AF2D01F8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F71CAB-9754-4B65-964F-FBD2FC7E8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B6866-96C8-4271-ABEC-F2734DEFA62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996936-A31F-477E-89A9-A83C84B74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B0DA60-48BD-4C39-B783-076D3EE5A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C8D00-9FA7-48FD-A160-84D2A5FD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40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B14B10-25EC-4C61-ACCD-715D3528E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B6866-96C8-4271-ABEC-F2734DEFA62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73D9E6-EA38-4963-ACA9-6E178ABA4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1DA72-3B1B-42C9-B73F-2CD6B4E82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C8D00-9FA7-48FD-A160-84D2A5FD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91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7BB07-E18B-42C5-AD0C-8297357BF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410C6-DBE1-45F8-8082-2821F8F1D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DE6DF-7843-4C5D-9752-5FDFAB270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2A2DF0-F3F4-4206-B801-9FBC2A788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B6866-96C8-4271-ABEC-F2734DEFA62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ED4C0B-DEFE-4CB4-8A77-511AF0B2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72FC6-4821-4D38-9688-CE5B2448D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C8D00-9FA7-48FD-A160-84D2A5FD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164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063A2-BA09-4349-8C6B-AABCF7934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198F9D-7468-43AB-8F8A-D78ACD081A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9FE290-6424-427E-918D-CCE96F8D4C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42406-35E2-4CDC-86CB-765B3569B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B6866-96C8-4271-ABEC-F2734DEFA62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CFC51-2E32-4818-AE7D-8D15CAB47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23C48-C84B-4A37-A2A1-0A9F6D5C3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C8D00-9FA7-48FD-A160-84D2A5FD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121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28571-15C1-44F9-9866-D2CEDA140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6B4CC3-3B66-4E81-9A90-BB375F3407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8F021-7A37-4435-A2A3-4049D9CA1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B6866-96C8-4271-ABEC-F2734DEFA62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52C34-1364-4954-B392-18CFBD49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9A549-0BDD-4C37-8341-2EBB028E4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C8D00-9FA7-48FD-A160-84D2A5FD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75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B1CEAC-4787-4F0E-9640-B89D31AEAB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C57EC0-E055-40DC-A1ED-84F12447B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2A9C1-421C-45AD-8816-F762F4472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B6866-96C8-4271-ABEC-F2734DEFA62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7A812-6829-4BFD-93A1-CD71C49F2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FCFD0-2018-443A-99BF-90114777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4C8D00-9FA7-48FD-A160-84D2A5FD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59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3E7CAA-458C-411C-851C-630DA7ECA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6540D9-FB5E-49D5-B554-DFB9A6808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1629C-1EC7-4139-8DB3-98CBAB66C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9B6866-96C8-4271-ABEC-F2734DEFA62E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14E27-C73B-4ED0-B0C2-F2227AB84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FEA62-B0EC-4793-B12D-130F463FE4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C8D00-9FA7-48FD-A160-84D2A5FD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86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F418D41-C300-416D-B4DE-785940DCC4A9}"/>
              </a:ext>
            </a:extLst>
          </p:cNvPr>
          <p:cNvGrpSpPr/>
          <p:nvPr/>
        </p:nvGrpSpPr>
        <p:grpSpPr>
          <a:xfrm>
            <a:off x="-2380328" y="647827"/>
            <a:ext cx="12729029" cy="6499020"/>
            <a:chOff x="-1441215" y="776224"/>
            <a:chExt cx="12729029" cy="649902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6FD950D-3003-4F3E-89AC-A9E06713A926}"/>
                </a:ext>
              </a:extLst>
            </p:cNvPr>
            <p:cNvSpPr/>
            <p:nvPr/>
          </p:nvSpPr>
          <p:spPr>
            <a:xfrm rot="18987053">
              <a:off x="-332595" y="776224"/>
              <a:ext cx="9337938" cy="6499020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A7728CA-5F58-4D18-AED9-7E56489E9428}"/>
                </a:ext>
              </a:extLst>
            </p:cNvPr>
            <p:cNvSpPr txBox="1"/>
            <p:nvPr/>
          </p:nvSpPr>
          <p:spPr>
            <a:xfrm flipH="1">
              <a:off x="-1441215" y="2471461"/>
              <a:ext cx="12729029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b="1" dirty="0">
                  <a:latin typeface="MS Gothic" panose="020B0609070205080204" pitchFamily="49" charset="-128"/>
                  <a:ea typeface="MS Gothic" panose="020B0609070205080204" pitchFamily="49" charset="-128"/>
                </a:rPr>
                <a:t>CSE326: INFORMATION </a:t>
              </a:r>
            </a:p>
            <a:p>
              <a:pPr algn="ctr"/>
              <a:r>
                <a:rPr lang="en-US" sz="4800" b="1" dirty="0">
                  <a:latin typeface="MS Gothic" panose="020B0609070205080204" pitchFamily="49" charset="-128"/>
                  <a:ea typeface="MS Gothic" panose="020B0609070205080204" pitchFamily="49" charset="-128"/>
                </a:rPr>
                <a:t>SYSTEM DESIGN SESSIONAL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2ABA67C-888A-474F-A137-200EAB96AB66}"/>
                </a:ext>
              </a:extLst>
            </p:cNvPr>
            <p:cNvSpPr txBox="1"/>
            <p:nvPr/>
          </p:nvSpPr>
          <p:spPr>
            <a:xfrm>
              <a:off x="1894620" y="4601875"/>
              <a:ext cx="488350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MS Gothic" panose="020B0609070205080204" pitchFamily="49" charset="-128"/>
                  <a:ea typeface="MS Gothic" panose="020B0609070205080204" pitchFamily="49" charset="-128"/>
                </a:rPr>
                <a:t>Project Presentation on </a:t>
              </a:r>
              <a:r>
                <a:rPr lang="en-US" sz="2400" b="1" dirty="0">
                  <a:latin typeface="MS Gothic" panose="020B0609070205080204" pitchFamily="49" charset="-128"/>
                  <a:ea typeface="MS Gothic" panose="020B0609070205080204" pitchFamily="49" charset="-128"/>
                </a:rPr>
                <a:t>Use Case Diagram </a:t>
              </a:r>
              <a:r>
                <a:rPr lang="en-US" sz="2400" dirty="0">
                  <a:latin typeface="MS Gothic" panose="020B0609070205080204" pitchFamily="49" charset="-128"/>
                  <a:ea typeface="MS Gothic" panose="020B0609070205080204" pitchFamily="49" charset="-128"/>
                </a:rPr>
                <a:t>&amp;</a:t>
              </a:r>
              <a:r>
                <a:rPr lang="en-US" sz="2400" b="1" dirty="0">
                  <a:latin typeface="MS Gothic" panose="020B0609070205080204" pitchFamily="49" charset="-128"/>
                  <a:ea typeface="MS Gothic" panose="020B0609070205080204" pitchFamily="49" charset="-128"/>
                </a:rPr>
                <a:t> Class Diagram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529252-E986-4D9B-BB07-8F22EBD801B1}"/>
              </a:ext>
            </a:extLst>
          </p:cNvPr>
          <p:cNvGrpSpPr/>
          <p:nvPr/>
        </p:nvGrpSpPr>
        <p:grpSpPr>
          <a:xfrm>
            <a:off x="7116059" y="-702664"/>
            <a:ext cx="9392903" cy="6166075"/>
            <a:chOff x="5926554" y="-702664"/>
            <a:chExt cx="9392903" cy="616607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5B25FCF-C1FE-40BA-ABBE-0E49157B6287}"/>
                </a:ext>
              </a:extLst>
            </p:cNvPr>
            <p:cNvSpPr/>
            <p:nvPr/>
          </p:nvSpPr>
          <p:spPr>
            <a:xfrm rot="19012035">
              <a:off x="5998838" y="2364377"/>
              <a:ext cx="7014754" cy="2129245"/>
            </a:xfrm>
            <a:prstGeom prst="rect">
              <a:avLst/>
            </a:pr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4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00E683C-49D6-46C6-954B-F8B1F7515B6E}"/>
                </a:ext>
              </a:extLst>
            </p:cNvPr>
            <p:cNvSpPr/>
            <p:nvPr/>
          </p:nvSpPr>
          <p:spPr>
            <a:xfrm rot="19012035">
              <a:off x="8304703" y="3334166"/>
              <a:ext cx="7014754" cy="2129245"/>
            </a:xfrm>
            <a:prstGeom prst="rect">
              <a:avLst/>
            </a:prstGeom>
            <a:blipFill dpi="0"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2633798-0192-4795-8F6E-BFF64E518ACE}"/>
                </a:ext>
              </a:extLst>
            </p:cNvPr>
            <p:cNvSpPr/>
            <p:nvPr/>
          </p:nvSpPr>
          <p:spPr>
            <a:xfrm rot="19012035">
              <a:off x="5926554" y="-702664"/>
              <a:ext cx="7014754" cy="2129245"/>
            </a:xfrm>
            <a:prstGeom prst="rect">
              <a:avLst/>
            </a:prstGeom>
            <a:blipFill dpi="0"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Blur radius="1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75722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8998A39-4872-44B0-8683-9817B1123229}"/>
              </a:ext>
            </a:extLst>
          </p:cNvPr>
          <p:cNvGrpSpPr/>
          <p:nvPr/>
        </p:nvGrpSpPr>
        <p:grpSpPr>
          <a:xfrm rot="10800000">
            <a:off x="7495549" y="-3083037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2C70DB-8AA8-4D78-AD42-05B8DFDA4B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0BE186-71A6-4E06-BF41-A1AF26D9A740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C1FB9F-B430-44BC-86C4-561805F0CB0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7F8E74-3E78-4FAD-84A8-0F86B5118C2F}"/>
              </a:ext>
            </a:extLst>
          </p:cNvPr>
          <p:cNvGrpSpPr/>
          <p:nvPr/>
        </p:nvGrpSpPr>
        <p:grpSpPr>
          <a:xfrm>
            <a:off x="-4944101" y="3908313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1552DC-1B30-45D4-8DF0-3D239643B3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F28792-11CD-4AED-89BD-AD8D8FA7C0CE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F072B30-1FFB-4D4A-9AB1-EAC6DE87A52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CDD28D2-BF44-4E99-B588-6A2B57522746}"/>
              </a:ext>
            </a:extLst>
          </p:cNvPr>
          <p:cNvSpPr txBox="1"/>
          <p:nvPr/>
        </p:nvSpPr>
        <p:spPr>
          <a:xfrm flipH="1">
            <a:off x="2579368" y="1428710"/>
            <a:ext cx="6645314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Century Gothic" panose="020B0502020202020204" pitchFamily="34" charset="0"/>
              </a:rPr>
              <a:t>B1 Group-2:</a:t>
            </a:r>
          </a:p>
          <a:p>
            <a:endParaRPr lang="en-US" sz="4000" b="1" dirty="0">
              <a:latin typeface="Century Gothic" panose="020B0502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" panose="020B0502020202020204" pitchFamily="34" charset="0"/>
              </a:rPr>
              <a:t>2105068  - Anika Morshed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" panose="020B0502020202020204" pitchFamily="34" charset="0"/>
              </a:rPr>
              <a:t>2105071 – Tanzim </a:t>
            </a:r>
            <a:r>
              <a:rPr lang="en-US" sz="2800" dirty="0" err="1">
                <a:latin typeface="Century Gothic" panose="020B0502020202020204" pitchFamily="34" charset="0"/>
              </a:rPr>
              <a:t>Tousif</a:t>
            </a:r>
            <a:endParaRPr lang="en-US" sz="2800" dirty="0">
              <a:latin typeface="Century Gothic" panose="020B0502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" panose="020B0502020202020204" pitchFamily="34" charset="0"/>
              </a:rPr>
              <a:t>2105081 - </a:t>
            </a:r>
            <a:r>
              <a:rPr lang="en-US" sz="2800" dirty="0" err="1">
                <a:latin typeface="Century Gothic" panose="020B0502020202020204" pitchFamily="34" charset="0"/>
              </a:rPr>
              <a:t>Diganta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latin typeface="Century Gothic" panose="020B0502020202020204" pitchFamily="34" charset="0"/>
              </a:rPr>
              <a:t>Saha</a:t>
            </a:r>
            <a:r>
              <a:rPr lang="en-US" sz="2800" dirty="0">
                <a:latin typeface="Century Gothic" panose="020B0502020202020204" pitchFamily="34" charset="0"/>
              </a:rPr>
              <a:t> Tirtha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" panose="020B0502020202020204" pitchFamily="34" charset="0"/>
              </a:rPr>
              <a:t>2105082 – </a:t>
            </a:r>
            <a:r>
              <a:rPr lang="en-US" sz="2800" dirty="0" err="1">
                <a:latin typeface="Century Gothic" panose="020B0502020202020204" pitchFamily="34" charset="0"/>
              </a:rPr>
              <a:t>Jahedul</a:t>
            </a:r>
            <a:r>
              <a:rPr lang="en-US" sz="2800" dirty="0">
                <a:latin typeface="Century Gothic" panose="020B0502020202020204" pitchFamily="34" charset="0"/>
              </a:rPr>
              <a:t> Islam Nayeem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" panose="020B0502020202020204" pitchFamily="34" charset="0"/>
              </a:rPr>
              <a:t>2105084 – </a:t>
            </a:r>
            <a:r>
              <a:rPr lang="en-US" sz="2800" dirty="0" err="1">
                <a:latin typeface="Century Gothic" panose="020B0502020202020204" pitchFamily="34" charset="0"/>
              </a:rPr>
              <a:t>Dibya</a:t>
            </a:r>
            <a:r>
              <a:rPr lang="en-US" sz="2800" dirty="0">
                <a:latin typeface="Century Gothic" panose="020B0502020202020204" pitchFamily="34" charset="0"/>
              </a:rPr>
              <a:t> Jyoti Sarkar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800" dirty="0">
                <a:latin typeface="Century Gothic" panose="020B0502020202020204" pitchFamily="34" charset="0"/>
              </a:rPr>
              <a:t>2105063 – </a:t>
            </a:r>
            <a:r>
              <a:rPr lang="en-US" sz="2800" dirty="0" err="1">
                <a:latin typeface="Century Gothic" panose="020B0502020202020204" pitchFamily="34" charset="0"/>
              </a:rPr>
              <a:t>Ramisa</a:t>
            </a:r>
            <a:r>
              <a:rPr lang="en-US" sz="2800" dirty="0">
                <a:latin typeface="Century Gothic" panose="020B0502020202020204" pitchFamily="34" charset="0"/>
              </a:rPr>
              <a:t> </a:t>
            </a:r>
            <a:r>
              <a:rPr lang="en-US" sz="2800" dirty="0" err="1">
                <a:latin typeface="Century Gothic" panose="020B0502020202020204" pitchFamily="34" charset="0"/>
              </a:rPr>
              <a:t>Tasnia</a:t>
            </a:r>
            <a:endParaRPr lang="en-US" sz="2800" dirty="0">
              <a:latin typeface="Century Gothic" panose="020B0502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>
              <a:latin typeface="Century Gothic" panose="020B0502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latin typeface="Century Gothic" panose="020B050202020202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128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8998A39-4872-44B0-8683-9817B1123229}"/>
              </a:ext>
            </a:extLst>
          </p:cNvPr>
          <p:cNvGrpSpPr/>
          <p:nvPr/>
        </p:nvGrpSpPr>
        <p:grpSpPr>
          <a:xfrm rot="10800000">
            <a:off x="7495549" y="-3083037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2C70DB-8AA8-4D78-AD42-05B8DFDA4B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0BE186-71A6-4E06-BF41-A1AF26D9A740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C1FB9F-B430-44BC-86C4-561805F0CB0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7F8E74-3E78-4FAD-84A8-0F86B5118C2F}"/>
              </a:ext>
            </a:extLst>
          </p:cNvPr>
          <p:cNvGrpSpPr/>
          <p:nvPr/>
        </p:nvGrpSpPr>
        <p:grpSpPr>
          <a:xfrm>
            <a:off x="-5787786" y="4498863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1552DC-1B30-45D4-8DF0-3D239643B3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F28792-11CD-4AED-89BD-AD8D8FA7C0CE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F072B30-1FFB-4D4A-9AB1-EAC6DE87A52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B4A648E-74D8-479E-B401-6CCF74DCB129}"/>
              </a:ext>
            </a:extLst>
          </p:cNvPr>
          <p:cNvSpPr txBox="1"/>
          <p:nvPr/>
        </p:nvSpPr>
        <p:spPr>
          <a:xfrm>
            <a:off x="-7881264" y="740980"/>
            <a:ext cx="83457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Century Gothic" panose="020B0502020202020204" pitchFamily="34" charset="0"/>
              </a:rPr>
              <a:t>Trip.com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B1DD7F-B68F-4D7D-996E-69CBDDDB38F4}"/>
              </a:ext>
            </a:extLst>
          </p:cNvPr>
          <p:cNvSpPr/>
          <p:nvPr/>
        </p:nvSpPr>
        <p:spPr>
          <a:xfrm>
            <a:off x="6197600" y="0"/>
            <a:ext cx="5994400" cy="6858000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F007BC-0EEB-4A6A-AFB9-0916F8239D3F}"/>
              </a:ext>
            </a:extLst>
          </p:cNvPr>
          <p:cNvSpPr txBox="1"/>
          <p:nvPr/>
        </p:nvSpPr>
        <p:spPr>
          <a:xfrm>
            <a:off x="6509518" y="1521931"/>
            <a:ext cx="5682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1D68FF"/>
                </a:solidFill>
                <a:latin typeface="Century Gothic" panose="020B0502020202020204" pitchFamily="34" charset="0"/>
              </a:rPr>
              <a:t>Trip</a:t>
            </a:r>
            <a:r>
              <a:rPr 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.</a:t>
            </a:r>
            <a:r>
              <a:rPr lang="en-US" sz="3200" b="1" dirty="0">
                <a:solidFill>
                  <a:srgbClr val="1D68FF"/>
                </a:solidFill>
                <a:latin typeface="Century Gothic" panose="020B0502020202020204" pitchFamily="34" charset="0"/>
              </a:rPr>
              <a:t>com</a:t>
            </a:r>
            <a:endParaRPr lang="en-US" sz="3200" dirty="0">
              <a:solidFill>
                <a:srgbClr val="1D68FF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534718-36F7-45C1-B803-F7CD0122B40F}"/>
              </a:ext>
            </a:extLst>
          </p:cNvPr>
          <p:cNvSpPr txBox="1"/>
          <p:nvPr/>
        </p:nvSpPr>
        <p:spPr>
          <a:xfrm>
            <a:off x="6916813" y="3131221"/>
            <a:ext cx="34266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Inter" pitchFamily="34" charset="-122"/>
                <a:cs typeface="Inter" pitchFamily="34" charset="-120"/>
              </a:rPr>
              <a:t>Trip.com is a online travel booking platform, dedicated to providing a seamless travel booking experience for all users.</a:t>
            </a:r>
            <a:endParaRPr lang="en-US" sz="14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E1635D-C7C4-4207-AC1D-FD4EF6C8B2F4}"/>
              </a:ext>
            </a:extLst>
          </p:cNvPr>
          <p:cNvSpPr txBox="1"/>
          <p:nvPr/>
        </p:nvSpPr>
        <p:spPr>
          <a:xfrm>
            <a:off x="904825" y="1401221"/>
            <a:ext cx="4680978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en-US" sz="3600" b="1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4 core features of </a:t>
            </a:r>
            <a:r>
              <a:rPr lang="en-US" sz="3600" b="1" i="0" u="none" strike="noStrike" dirty="0">
                <a:solidFill>
                  <a:srgbClr val="1D68FF"/>
                </a:solidFill>
                <a:effectLst/>
                <a:latin typeface="Century Gothic" panose="020B0502020202020204" pitchFamily="34" charset="0"/>
              </a:rPr>
              <a:t>Hotel Booking </a:t>
            </a:r>
            <a:r>
              <a:rPr lang="en-US" sz="3600" b="1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Module: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</a:pPr>
            <a:endParaRPr lang="en-US" sz="2400" b="1" i="0" u="none" strike="noStrike" dirty="0">
              <a:solidFill>
                <a:srgbClr val="1F1F1F"/>
              </a:solidFill>
              <a:effectLst/>
              <a:latin typeface="Century Gothic" panose="020B0502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900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Searching and availability checking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900" i="0" u="none" strike="noStrike" dirty="0">
              <a:solidFill>
                <a:srgbClr val="1F1F1F"/>
              </a:solidFill>
              <a:effectLst/>
              <a:latin typeface="Century Gothic" panose="020B0502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1F1F"/>
                </a:solidFill>
                <a:latin typeface="Century Gothic" panose="020B0502020202020204" pitchFamily="34" charset="0"/>
              </a:rPr>
              <a:t>Reviews and ratings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900" dirty="0">
              <a:solidFill>
                <a:srgbClr val="1F1F1F"/>
              </a:solidFill>
              <a:latin typeface="Century Gothic" panose="020B0502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900" i="0" u="none" strike="noStrike" dirty="0" err="1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Favourites</a:t>
            </a:r>
            <a:r>
              <a:rPr lang="en-US" sz="1900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 and booking history</a:t>
            </a: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900" i="0" u="none" strike="noStrike" dirty="0">
              <a:solidFill>
                <a:srgbClr val="1F1F1F"/>
              </a:solidFill>
              <a:effectLst/>
              <a:latin typeface="Century Gothic" panose="020B0502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1F1F1F"/>
                </a:solidFill>
                <a:latin typeface="Century Gothic" panose="020B0502020202020204" pitchFamily="34" charset="0"/>
              </a:rPr>
              <a:t>Booking confirmation and cancellation</a:t>
            </a:r>
            <a:endParaRPr lang="en-US" sz="1900" i="0" u="none" strike="noStrike" dirty="0">
              <a:solidFill>
                <a:srgbClr val="1F1F1F"/>
              </a:solidFill>
              <a:effectLst/>
              <a:latin typeface="Century Gothic" panose="020B0502020202020204" pitchFamily="34" charset="0"/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b="1" i="0" u="none" strike="noStrike" dirty="0">
              <a:solidFill>
                <a:srgbClr val="1F1F1F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388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8998A39-4872-44B0-8683-9817B1123229}"/>
              </a:ext>
            </a:extLst>
          </p:cNvPr>
          <p:cNvGrpSpPr/>
          <p:nvPr/>
        </p:nvGrpSpPr>
        <p:grpSpPr>
          <a:xfrm rot="10800000">
            <a:off x="7495549" y="-3083037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2C70DB-8AA8-4D78-AD42-05B8DFDA4B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0BE186-71A6-4E06-BF41-A1AF26D9A740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C1FB9F-B430-44BC-86C4-561805F0CB0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7F8E74-3E78-4FAD-84A8-0F86B5118C2F}"/>
              </a:ext>
            </a:extLst>
          </p:cNvPr>
          <p:cNvGrpSpPr/>
          <p:nvPr/>
        </p:nvGrpSpPr>
        <p:grpSpPr>
          <a:xfrm>
            <a:off x="-5452816" y="3979146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1552DC-1B30-45D4-8DF0-3D239643B3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F28792-11CD-4AED-89BD-AD8D8FA7C0CE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F072B30-1FFB-4D4A-9AB1-EAC6DE87A52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67D7F4F-C09D-421A-9990-94D5CC86643C}"/>
              </a:ext>
            </a:extLst>
          </p:cNvPr>
          <p:cNvSpPr txBox="1"/>
          <p:nvPr/>
        </p:nvSpPr>
        <p:spPr>
          <a:xfrm>
            <a:off x="1704726" y="-3096186"/>
            <a:ext cx="3863662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n-US" sz="1600" b="1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Actors:</a:t>
            </a: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Web User</a:t>
            </a: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Guest User</a:t>
            </a: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Registered U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ser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Hotel Admin</a:t>
            </a: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Payment Gateway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4A855-CC4F-4285-B54C-6035162D7953}"/>
              </a:ext>
            </a:extLst>
          </p:cNvPr>
          <p:cNvSpPr txBox="1"/>
          <p:nvPr/>
        </p:nvSpPr>
        <p:spPr>
          <a:xfrm>
            <a:off x="6001005" y="-2160020"/>
            <a:ext cx="316912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600"/>
              </a:spcAft>
            </a:pPr>
            <a:r>
              <a:rPr lang="en-US" sz="1600" dirty="0">
                <a:latin typeface="Century Gothic" panose="020B0502020202020204" pitchFamily="34" charset="0"/>
              </a:rPr>
              <a:t>Guest and Registered Users specialize Web User</a:t>
            </a:r>
          </a:p>
          <a:p>
            <a:pPr rtl="0">
              <a:spcBef>
                <a:spcPts val="1200"/>
              </a:spcBef>
              <a:spcAft>
                <a:spcPts val="600"/>
              </a:spcAft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32934B-6DA6-4DC2-964E-9345E7686CE2}"/>
              </a:ext>
            </a:extLst>
          </p:cNvPr>
          <p:cNvSpPr txBox="1"/>
          <p:nvPr/>
        </p:nvSpPr>
        <p:spPr>
          <a:xfrm>
            <a:off x="1860083" y="2786054"/>
            <a:ext cx="77154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Use Case Diagram</a:t>
            </a:r>
            <a:endParaRPr lang="en-US" sz="4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749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8998A39-4872-44B0-8683-9817B1123229}"/>
              </a:ext>
            </a:extLst>
          </p:cNvPr>
          <p:cNvGrpSpPr/>
          <p:nvPr/>
        </p:nvGrpSpPr>
        <p:grpSpPr>
          <a:xfrm rot="10800000">
            <a:off x="7495549" y="-3083037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2C70DB-8AA8-4D78-AD42-05B8DFDA4B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0BE186-71A6-4E06-BF41-A1AF26D9A740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C1FB9F-B430-44BC-86C4-561805F0CB0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7F8E74-3E78-4FAD-84A8-0F86B5118C2F}"/>
              </a:ext>
            </a:extLst>
          </p:cNvPr>
          <p:cNvGrpSpPr/>
          <p:nvPr/>
        </p:nvGrpSpPr>
        <p:grpSpPr>
          <a:xfrm>
            <a:off x="-5452816" y="3979146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1552DC-1B30-45D4-8DF0-3D239643B3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F28792-11CD-4AED-89BD-AD8D8FA7C0CE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F072B30-1FFB-4D4A-9AB1-EAC6DE87A52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67D7F4F-C09D-421A-9990-94D5CC86643C}"/>
              </a:ext>
            </a:extLst>
          </p:cNvPr>
          <p:cNvSpPr txBox="1"/>
          <p:nvPr/>
        </p:nvSpPr>
        <p:spPr>
          <a:xfrm>
            <a:off x="1704726" y="1410920"/>
            <a:ext cx="3863662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n-US" sz="1600" b="1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Actors:</a:t>
            </a: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Web User</a:t>
            </a: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Guest User</a:t>
            </a: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Registered U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ser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Hotel Admin</a:t>
            </a: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Payment Gateway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4A855-CC4F-4285-B54C-6035162D7953}"/>
              </a:ext>
            </a:extLst>
          </p:cNvPr>
          <p:cNvSpPr txBox="1"/>
          <p:nvPr/>
        </p:nvSpPr>
        <p:spPr>
          <a:xfrm>
            <a:off x="6001006" y="1424991"/>
            <a:ext cx="2962582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600"/>
              </a:spcAft>
            </a:pPr>
            <a:r>
              <a:rPr lang="en-US" sz="1600" dirty="0">
                <a:latin typeface="Century Gothic" panose="020B0502020202020204" pitchFamily="34" charset="0"/>
              </a:rPr>
              <a:t>Guest and Registered Users </a:t>
            </a:r>
            <a:r>
              <a:rPr lang="en-US" sz="1600" b="1" dirty="0">
                <a:latin typeface="Century Gothic" panose="020B0502020202020204" pitchFamily="34" charset="0"/>
              </a:rPr>
              <a:t>specialize</a:t>
            </a:r>
            <a:r>
              <a:rPr lang="en-US" sz="1600" dirty="0">
                <a:latin typeface="Century Gothic" panose="020B0502020202020204" pitchFamily="34" charset="0"/>
              </a:rPr>
              <a:t> Web User</a:t>
            </a:r>
          </a:p>
          <a:p>
            <a:pPr rtl="0">
              <a:spcBef>
                <a:spcPts val="1200"/>
              </a:spcBef>
              <a:spcAft>
                <a:spcPts val="600"/>
              </a:spcAft>
            </a:pPr>
            <a:endParaRPr lang="en-US" sz="1600" dirty="0">
              <a:latin typeface="Century Gothic" panose="020B0502020202020204" pitchFamily="34" charset="0"/>
            </a:endParaRPr>
          </a:p>
          <a:p>
            <a:pPr rtl="0">
              <a:spcBef>
                <a:spcPts val="1200"/>
              </a:spcBef>
              <a:spcAft>
                <a:spcPts val="600"/>
              </a:spcAft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30509A-B3D1-45F3-8A07-A07FF78BB7F4}"/>
              </a:ext>
            </a:extLst>
          </p:cNvPr>
          <p:cNvSpPr txBox="1"/>
          <p:nvPr/>
        </p:nvSpPr>
        <p:spPr>
          <a:xfrm>
            <a:off x="432710" y="489614"/>
            <a:ext cx="7715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Use Case Diagram</a:t>
            </a:r>
            <a:endParaRPr lang="en-US" sz="3600" dirty="0">
              <a:latin typeface="Century Gothic" panose="020B0502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0421FBD-5575-4515-8ECA-D00A77C262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2" t="47040" r="75454" b="33738"/>
          <a:stretch/>
        </p:blipFill>
        <p:spPr>
          <a:xfrm>
            <a:off x="4466184" y="2047970"/>
            <a:ext cx="2962582" cy="385773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424E28F-1958-492D-A9EC-7825259594C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15" t="38455" r="2068" b="54858"/>
          <a:stretch/>
        </p:blipFill>
        <p:spPr>
          <a:xfrm>
            <a:off x="8551429" y="2166692"/>
            <a:ext cx="1285409" cy="162861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E695D23-139F-40E6-9C28-3D48A1313F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86" t="53619" r="842" b="39438"/>
          <a:stretch/>
        </p:blipFill>
        <p:spPr>
          <a:xfrm>
            <a:off x="8662130" y="4349502"/>
            <a:ext cx="1388957" cy="1687613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9067BC9-24B8-432A-AD45-5F31FBE90004}"/>
              </a:ext>
            </a:extLst>
          </p:cNvPr>
          <p:cNvSpPr/>
          <p:nvPr/>
        </p:nvSpPr>
        <p:spPr>
          <a:xfrm>
            <a:off x="7428765" y="2723606"/>
            <a:ext cx="1285409" cy="24459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1D68FF"/>
                </a:solidFill>
                <a:latin typeface="Century Gothic" panose="020B0502020202020204" pitchFamily="34" charset="0"/>
              </a:rPr>
              <a:t>Trip</a:t>
            </a:r>
            <a:r>
              <a:rPr lang="en-US" b="1" dirty="0">
                <a:solidFill>
                  <a:srgbClr val="FFC000"/>
                </a:solidFill>
                <a:latin typeface="Century Gothic" panose="020B0502020202020204" pitchFamily="34" charset="0"/>
              </a:rPr>
              <a:t>.</a:t>
            </a:r>
            <a:r>
              <a:rPr lang="en-US" b="1" dirty="0">
                <a:solidFill>
                  <a:srgbClr val="1D68FF"/>
                </a:solidFill>
                <a:latin typeface="Century Gothic" panose="020B0502020202020204" pitchFamily="34" charset="0"/>
              </a:rPr>
              <a:t>com</a:t>
            </a:r>
          </a:p>
        </p:txBody>
      </p:sp>
    </p:spTree>
    <p:extLst>
      <p:ext uri="{BB962C8B-B14F-4D97-AF65-F5344CB8AC3E}">
        <p14:creationId xmlns:p14="http://schemas.microsoft.com/office/powerpoint/2010/main" val="1108270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8998A39-4872-44B0-8683-9817B1123229}"/>
              </a:ext>
            </a:extLst>
          </p:cNvPr>
          <p:cNvGrpSpPr/>
          <p:nvPr/>
        </p:nvGrpSpPr>
        <p:grpSpPr>
          <a:xfrm rot="10800000">
            <a:off x="7495549" y="-3083037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2C70DB-8AA8-4D78-AD42-05B8DFDA4B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0BE186-71A6-4E06-BF41-A1AF26D9A740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C1FB9F-B430-44BC-86C4-561805F0CB0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7F8E74-3E78-4FAD-84A8-0F86B5118C2F}"/>
              </a:ext>
            </a:extLst>
          </p:cNvPr>
          <p:cNvGrpSpPr/>
          <p:nvPr/>
        </p:nvGrpSpPr>
        <p:grpSpPr>
          <a:xfrm>
            <a:off x="-4944101" y="3908313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1552DC-1B30-45D4-8DF0-3D239643B3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F28792-11CD-4AED-89BD-AD8D8FA7C0CE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F072B30-1FFB-4D4A-9AB1-EAC6DE87A52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FB18C07-14A0-4AC4-86D8-E77588337026}"/>
              </a:ext>
            </a:extLst>
          </p:cNvPr>
          <p:cNvSpPr txBox="1"/>
          <p:nvPr/>
        </p:nvSpPr>
        <p:spPr>
          <a:xfrm>
            <a:off x="839096" y="677732"/>
            <a:ext cx="7299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entury Gothic" panose="020B0502020202020204" pitchFamily="34" charset="0"/>
              </a:rPr>
              <a:t>Use Case </a:t>
            </a:r>
          </a:p>
          <a:p>
            <a:r>
              <a:rPr lang="en-US" sz="3600" b="1" dirty="0">
                <a:latin typeface="Century Gothic" panose="020B0502020202020204" pitchFamily="34" charset="0"/>
              </a:rPr>
              <a:t>Diagram</a:t>
            </a:r>
            <a:r>
              <a:rPr lang="en-US" sz="3200" b="1" dirty="0">
                <a:latin typeface="Century Gothic" panose="020B0502020202020204" pitchFamily="34" charset="0"/>
              </a:rPr>
              <a:t>(whole)</a:t>
            </a:r>
            <a:endParaRPr lang="en-US" sz="3200" dirty="0">
              <a:latin typeface="Century Gothic" panose="020B0502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BF141B2-7B5E-43E0-925A-A4C49CD32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3949" y="1974066"/>
            <a:ext cx="24757301" cy="42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B2E28A9-DC81-4F9A-AFCF-F0C3FDE7BD8D}"/>
              </a:ext>
            </a:extLst>
          </p:cNvPr>
          <p:cNvGrpSpPr/>
          <p:nvPr/>
        </p:nvGrpSpPr>
        <p:grpSpPr>
          <a:xfrm>
            <a:off x="-1242395" y="4551442"/>
            <a:ext cx="1216777" cy="1099067"/>
            <a:chOff x="4015405" y="4551442"/>
            <a:chExt cx="1216777" cy="1099067"/>
          </a:xfrm>
        </p:grpSpPr>
        <p:pic>
          <p:nvPicPr>
            <p:cNvPr id="31" name="Graphic 30" descr="Line arrow Clockwise curve">
              <a:extLst>
                <a:ext uri="{FF2B5EF4-FFF2-40B4-BE49-F238E27FC236}">
                  <a16:creationId xmlns:a16="http://schemas.microsoft.com/office/drawing/2014/main" id="{3BA0A46A-1BC4-4858-AF4A-85AD2FACC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 flipV="1">
              <a:off x="4317782" y="4736109"/>
              <a:ext cx="914400" cy="914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1FD5414-228B-49EF-AF19-913548E006E0}"/>
                </a:ext>
              </a:extLst>
            </p:cNvPr>
            <p:cNvSpPr txBox="1"/>
            <p:nvPr/>
          </p:nvSpPr>
          <p:spPr>
            <a:xfrm>
              <a:off x="4015405" y="455144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Century Gothic" panose="020B0502020202020204" pitchFamily="34" charset="0"/>
                </a:rPr>
                <a:t>RED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77DFD0A-DDBE-4CA6-9447-0477DB6067D2}"/>
              </a:ext>
            </a:extLst>
          </p:cNvPr>
          <p:cNvGrpSpPr/>
          <p:nvPr/>
        </p:nvGrpSpPr>
        <p:grpSpPr>
          <a:xfrm>
            <a:off x="-4463832" y="1974066"/>
            <a:ext cx="1225114" cy="1099066"/>
            <a:chOff x="3918168" y="1974066"/>
            <a:chExt cx="1225114" cy="1099066"/>
          </a:xfrm>
        </p:grpSpPr>
        <p:pic>
          <p:nvPicPr>
            <p:cNvPr id="20" name="Graphic 19" descr="Line arrow Clockwise curve">
              <a:extLst>
                <a:ext uri="{FF2B5EF4-FFF2-40B4-BE49-F238E27FC236}">
                  <a16:creationId xmlns:a16="http://schemas.microsoft.com/office/drawing/2014/main" id="{96ED5B9D-E961-44D8-866E-9A99E6A98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4228882" y="1974066"/>
              <a:ext cx="914400" cy="91440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A5D5DC4-154E-4196-B54D-A71A3BAA6232}"/>
                </a:ext>
              </a:extLst>
            </p:cNvPr>
            <p:cNvSpPr txBox="1"/>
            <p:nvPr/>
          </p:nvSpPr>
          <p:spPr>
            <a:xfrm>
              <a:off x="3918168" y="2703800"/>
              <a:ext cx="1011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Century Gothic" panose="020B0502020202020204" pitchFamily="34" charset="0"/>
                </a:rPr>
                <a:t>GREEN</a:t>
              </a:r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BBAF7DFC-97BD-44BD-B6E2-5BC11289D2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37554" y="88750"/>
            <a:ext cx="4824459" cy="668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95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over/>
      </p:transition>
    </mc:Choice>
    <mc:Fallback xmlns="">
      <p:transition spd="slow">
        <p:cover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8998A39-4872-44B0-8683-9817B1123229}"/>
              </a:ext>
            </a:extLst>
          </p:cNvPr>
          <p:cNvGrpSpPr/>
          <p:nvPr/>
        </p:nvGrpSpPr>
        <p:grpSpPr>
          <a:xfrm rot="10800000">
            <a:off x="7495549" y="-3083037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2C70DB-8AA8-4D78-AD42-05B8DFDA4B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0BE186-71A6-4E06-BF41-A1AF26D9A740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C1FB9F-B430-44BC-86C4-561805F0CB0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7F8E74-3E78-4FAD-84A8-0F86B5118C2F}"/>
              </a:ext>
            </a:extLst>
          </p:cNvPr>
          <p:cNvGrpSpPr/>
          <p:nvPr/>
        </p:nvGrpSpPr>
        <p:grpSpPr>
          <a:xfrm>
            <a:off x="-4944101" y="3908313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1552DC-1B30-45D4-8DF0-3D239643B3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F28792-11CD-4AED-89BD-AD8D8FA7C0CE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F072B30-1FFB-4D4A-9AB1-EAC6DE87A52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FB18C07-14A0-4AC4-86D8-E77588337026}"/>
              </a:ext>
            </a:extLst>
          </p:cNvPr>
          <p:cNvSpPr txBox="1"/>
          <p:nvPr/>
        </p:nvSpPr>
        <p:spPr>
          <a:xfrm>
            <a:off x="839096" y="677732"/>
            <a:ext cx="72990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entury Gothic" panose="020B0502020202020204" pitchFamily="34" charset="0"/>
              </a:rPr>
              <a:t>Use Case </a:t>
            </a:r>
          </a:p>
          <a:p>
            <a:r>
              <a:rPr lang="en-US" sz="3600" b="1" dirty="0">
                <a:latin typeface="Century Gothic" panose="020B0502020202020204" pitchFamily="34" charset="0"/>
              </a:rPr>
              <a:t>Diagram</a:t>
            </a:r>
            <a:r>
              <a:rPr lang="en-US" sz="3200" b="1" dirty="0">
                <a:latin typeface="Century Gothic" panose="020B0502020202020204" pitchFamily="34" charset="0"/>
              </a:rPr>
              <a:t>(whole)</a:t>
            </a:r>
            <a:endParaRPr lang="en-US" sz="3200" dirty="0">
              <a:latin typeface="Century Gothic" panose="020B0502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BF141B2-7B5E-43E0-925A-A4C49CD32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3949" y="1974066"/>
            <a:ext cx="24757301" cy="42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B2E28A9-DC81-4F9A-AFCF-F0C3FDE7BD8D}"/>
              </a:ext>
            </a:extLst>
          </p:cNvPr>
          <p:cNvGrpSpPr/>
          <p:nvPr/>
        </p:nvGrpSpPr>
        <p:grpSpPr>
          <a:xfrm>
            <a:off x="4034455" y="4551442"/>
            <a:ext cx="1216777" cy="1099067"/>
            <a:chOff x="4015405" y="4551442"/>
            <a:chExt cx="1216777" cy="1099067"/>
          </a:xfrm>
        </p:grpSpPr>
        <p:pic>
          <p:nvPicPr>
            <p:cNvPr id="31" name="Graphic 30" descr="Line arrow Clockwise curve">
              <a:extLst>
                <a:ext uri="{FF2B5EF4-FFF2-40B4-BE49-F238E27FC236}">
                  <a16:creationId xmlns:a16="http://schemas.microsoft.com/office/drawing/2014/main" id="{3BA0A46A-1BC4-4858-AF4A-85AD2FACC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 flipV="1">
              <a:off x="4317782" y="4736109"/>
              <a:ext cx="914400" cy="914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1FD5414-228B-49EF-AF19-913548E006E0}"/>
                </a:ext>
              </a:extLst>
            </p:cNvPr>
            <p:cNvSpPr txBox="1"/>
            <p:nvPr/>
          </p:nvSpPr>
          <p:spPr>
            <a:xfrm>
              <a:off x="4015405" y="455144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latin typeface="Century Gothic" panose="020B0502020202020204" pitchFamily="34" charset="0"/>
                </a:rPr>
                <a:t>RED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77DFD0A-DDBE-4CA6-9447-0477DB6067D2}"/>
              </a:ext>
            </a:extLst>
          </p:cNvPr>
          <p:cNvGrpSpPr/>
          <p:nvPr/>
        </p:nvGrpSpPr>
        <p:grpSpPr>
          <a:xfrm>
            <a:off x="3918168" y="1974066"/>
            <a:ext cx="1225114" cy="1099066"/>
            <a:chOff x="3918168" y="1974066"/>
            <a:chExt cx="1225114" cy="1099066"/>
          </a:xfrm>
        </p:grpSpPr>
        <p:pic>
          <p:nvPicPr>
            <p:cNvPr id="20" name="Graphic 19" descr="Line arrow Clockwise curve">
              <a:extLst>
                <a:ext uri="{FF2B5EF4-FFF2-40B4-BE49-F238E27FC236}">
                  <a16:creationId xmlns:a16="http://schemas.microsoft.com/office/drawing/2014/main" id="{96ED5B9D-E961-44D8-866E-9A99E6A98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4228882" y="1974066"/>
              <a:ext cx="914400" cy="914400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A5D5DC4-154E-4196-B54D-A71A3BAA6232}"/>
                </a:ext>
              </a:extLst>
            </p:cNvPr>
            <p:cNvSpPr txBox="1"/>
            <p:nvPr/>
          </p:nvSpPr>
          <p:spPr>
            <a:xfrm>
              <a:off x="3918168" y="2703800"/>
              <a:ext cx="10116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00B050"/>
                  </a:solidFill>
                  <a:latin typeface="Century Gothic" panose="020B0502020202020204" pitchFamily="34" charset="0"/>
                </a:rPr>
                <a:t>GREEN</a:t>
              </a:r>
            </a:p>
          </p:txBody>
        </p:sp>
      </p:grpSp>
      <p:pic>
        <p:nvPicPr>
          <p:cNvPr id="19" name="Graphic 18">
            <a:extLst>
              <a:ext uri="{FF2B5EF4-FFF2-40B4-BE49-F238E27FC236}">
                <a16:creationId xmlns:a16="http://schemas.microsoft.com/office/drawing/2014/main" id="{0A9A2807-A6E6-44B9-9A82-7072069AE4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09740" y="88750"/>
            <a:ext cx="4824459" cy="668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61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8998A39-4872-44B0-8683-9817B1123229}"/>
              </a:ext>
            </a:extLst>
          </p:cNvPr>
          <p:cNvGrpSpPr/>
          <p:nvPr/>
        </p:nvGrpSpPr>
        <p:grpSpPr>
          <a:xfrm rot="10800000">
            <a:off x="7219324" y="-3578337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2C70DB-8AA8-4D78-AD42-05B8DFDA4B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0BE186-71A6-4E06-BF41-A1AF26D9A740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C1FB9F-B430-44BC-86C4-561805F0CB0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7F8E74-3E78-4FAD-84A8-0F86B5118C2F}"/>
              </a:ext>
            </a:extLst>
          </p:cNvPr>
          <p:cNvGrpSpPr/>
          <p:nvPr/>
        </p:nvGrpSpPr>
        <p:grpSpPr>
          <a:xfrm>
            <a:off x="-4944101" y="3908313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1552DC-1B30-45D4-8DF0-3D239643B3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F28792-11CD-4AED-89BD-AD8D8FA7C0CE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F072B30-1FFB-4D4A-9AB1-EAC6DE87A52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FB18C07-14A0-4AC4-86D8-E77588337026}"/>
              </a:ext>
            </a:extLst>
          </p:cNvPr>
          <p:cNvSpPr txBox="1"/>
          <p:nvPr/>
        </p:nvSpPr>
        <p:spPr>
          <a:xfrm>
            <a:off x="711010" y="435141"/>
            <a:ext cx="99940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entury Gothic" panose="020B0502020202020204" pitchFamily="34" charset="0"/>
              </a:rPr>
              <a:t>Use Case Diagram</a:t>
            </a:r>
            <a:r>
              <a:rPr lang="en-US" sz="2400" b="1" dirty="0">
                <a:latin typeface="Century Gothic" panose="020B0502020202020204" pitchFamily="34" charset="0"/>
              </a:rPr>
              <a:t>(Authentication)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BF141B2-7B5E-43E0-925A-A4C49CD32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3949" y="1974066"/>
            <a:ext cx="24757301" cy="42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AA6079-89EE-42E3-84AC-2DD321F88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943" y="1062624"/>
            <a:ext cx="3649177" cy="5352713"/>
          </a:xfrm>
          <a:prstGeom prst="round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998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over/>
      </p:transition>
    </mc:Choice>
    <mc:Fallback xmlns="">
      <p:transition spd="slow">
        <p:cover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8998A39-4872-44B0-8683-9817B1123229}"/>
              </a:ext>
            </a:extLst>
          </p:cNvPr>
          <p:cNvGrpSpPr/>
          <p:nvPr/>
        </p:nvGrpSpPr>
        <p:grpSpPr>
          <a:xfrm rot="10800000">
            <a:off x="7219324" y="-3578337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2C70DB-8AA8-4D78-AD42-05B8DFDA4B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0BE186-71A6-4E06-BF41-A1AF26D9A740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C1FB9F-B430-44BC-86C4-561805F0CB0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7F8E74-3E78-4FAD-84A8-0F86B5118C2F}"/>
              </a:ext>
            </a:extLst>
          </p:cNvPr>
          <p:cNvGrpSpPr/>
          <p:nvPr/>
        </p:nvGrpSpPr>
        <p:grpSpPr>
          <a:xfrm>
            <a:off x="-4944101" y="3908313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1552DC-1B30-45D4-8DF0-3D239643B3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F28792-11CD-4AED-89BD-AD8D8FA7C0CE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F072B30-1FFB-4D4A-9AB1-EAC6DE87A52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FB18C07-14A0-4AC4-86D8-E77588337026}"/>
              </a:ext>
            </a:extLst>
          </p:cNvPr>
          <p:cNvSpPr txBox="1"/>
          <p:nvPr/>
        </p:nvSpPr>
        <p:spPr>
          <a:xfrm>
            <a:off x="711010" y="435141"/>
            <a:ext cx="99940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entury Gothic" panose="020B0502020202020204" pitchFamily="34" charset="0"/>
              </a:rPr>
              <a:t>Use Case Diagram</a:t>
            </a:r>
            <a:r>
              <a:rPr lang="en-US" sz="2400" b="1" dirty="0">
                <a:latin typeface="Century Gothic" panose="020B0502020202020204" pitchFamily="34" charset="0"/>
              </a:rPr>
              <a:t>(Searching &amp; Availability Checking)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BF141B2-7B5E-43E0-925A-A4C49CD32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3949" y="1974066"/>
            <a:ext cx="24757301" cy="42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42D660-DDA3-42B2-B9D5-92F272E38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397" y="1030933"/>
            <a:ext cx="7335956" cy="5482973"/>
          </a:xfrm>
          <a:prstGeom prst="round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37867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over/>
      </p:transition>
    </mc:Choice>
    <mc:Fallback xmlns="">
      <p:transition spd="slow">
        <p:cover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8998A39-4872-44B0-8683-9817B1123229}"/>
              </a:ext>
            </a:extLst>
          </p:cNvPr>
          <p:cNvGrpSpPr/>
          <p:nvPr/>
        </p:nvGrpSpPr>
        <p:grpSpPr>
          <a:xfrm rot="10800000">
            <a:off x="6848474" y="-3635488"/>
            <a:ext cx="9433109" cy="625962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2C70DB-8AA8-4D78-AD42-05B8DFDA4B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0BE186-71A6-4E06-BF41-A1AF26D9A740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C1FB9F-B430-44BC-86C4-561805F0CB0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7F8E74-3E78-4FAD-84A8-0F86B5118C2F}"/>
              </a:ext>
            </a:extLst>
          </p:cNvPr>
          <p:cNvGrpSpPr/>
          <p:nvPr/>
        </p:nvGrpSpPr>
        <p:grpSpPr>
          <a:xfrm>
            <a:off x="-4944101" y="3908313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1552DC-1B30-45D4-8DF0-3D239643B3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F28792-11CD-4AED-89BD-AD8D8FA7C0CE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F072B30-1FFB-4D4A-9AB1-EAC6DE87A52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FB18C07-14A0-4AC4-86D8-E77588337026}"/>
              </a:ext>
            </a:extLst>
          </p:cNvPr>
          <p:cNvSpPr txBox="1"/>
          <p:nvPr/>
        </p:nvSpPr>
        <p:spPr>
          <a:xfrm>
            <a:off x="606867" y="417028"/>
            <a:ext cx="10790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entury Gothic" panose="020B0502020202020204" pitchFamily="34" charset="0"/>
              </a:rPr>
              <a:t>Use Case Diagram </a:t>
            </a:r>
            <a:r>
              <a:rPr lang="en-US" sz="2400" b="1" dirty="0">
                <a:latin typeface="Century Gothic" panose="020B0502020202020204" pitchFamily="34" charset="0"/>
              </a:rPr>
              <a:t>(Booking Confirmation &amp; Cancellation)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BF141B2-7B5E-43E0-925A-A4C49CD32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3949" y="1974066"/>
            <a:ext cx="24757301" cy="42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4303A2-F7C8-4192-B26A-BDF32674A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990" y="1002714"/>
            <a:ext cx="6832681" cy="5710772"/>
          </a:xfrm>
          <a:prstGeom prst="round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2968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over/>
      </p:transition>
    </mc:Choice>
    <mc:Fallback xmlns="">
      <p:transition spd="slow">
        <p:cover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8998A39-4872-44B0-8683-9817B1123229}"/>
              </a:ext>
            </a:extLst>
          </p:cNvPr>
          <p:cNvGrpSpPr/>
          <p:nvPr/>
        </p:nvGrpSpPr>
        <p:grpSpPr>
          <a:xfrm rot="10800000">
            <a:off x="7495549" y="-3083037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2C70DB-8AA8-4D78-AD42-05B8DFDA4B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0BE186-71A6-4E06-BF41-A1AF26D9A740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C1FB9F-B430-44BC-86C4-561805F0CB0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7F8E74-3E78-4FAD-84A8-0F86B5118C2F}"/>
              </a:ext>
            </a:extLst>
          </p:cNvPr>
          <p:cNvGrpSpPr/>
          <p:nvPr/>
        </p:nvGrpSpPr>
        <p:grpSpPr>
          <a:xfrm>
            <a:off x="-4944101" y="3908313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1552DC-1B30-45D4-8DF0-3D239643B3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F28792-11CD-4AED-89BD-AD8D8FA7C0CE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F072B30-1FFB-4D4A-9AB1-EAC6DE87A52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FB18C07-14A0-4AC4-86D8-E77588337026}"/>
              </a:ext>
            </a:extLst>
          </p:cNvPr>
          <p:cNvSpPr txBox="1"/>
          <p:nvPr/>
        </p:nvSpPr>
        <p:spPr>
          <a:xfrm>
            <a:off x="737496" y="333617"/>
            <a:ext cx="60966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entury Gothic" panose="020B0502020202020204" pitchFamily="34" charset="0"/>
              </a:rPr>
              <a:t>Use Case Diagram</a:t>
            </a:r>
            <a:r>
              <a:rPr lang="en-US" sz="2400" b="1" dirty="0">
                <a:latin typeface="Century Gothic" panose="020B0502020202020204" pitchFamily="34" charset="0"/>
              </a:rPr>
              <a:t>(Review &amp; Rating)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BF141B2-7B5E-43E0-925A-A4C49CD32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3949" y="1974066"/>
            <a:ext cx="24757301" cy="42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FCD690-598B-4435-A317-31432B665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581" y="885744"/>
            <a:ext cx="4342703" cy="5773240"/>
          </a:xfrm>
          <a:prstGeom prst="round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44184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over/>
      </p:transition>
    </mc:Choice>
    <mc:Fallback xmlns="">
      <p:transition spd="slow">
        <p:cover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8998A39-4872-44B0-8683-9817B1123229}"/>
              </a:ext>
            </a:extLst>
          </p:cNvPr>
          <p:cNvGrpSpPr/>
          <p:nvPr/>
        </p:nvGrpSpPr>
        <p:grpSpPr>
          <a:xfrm rot="10800000">
            <a:off x="7495549" y="-3083037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2C70DB-8AA8-4D78-AD42-05B8DFDA4B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0BE186-71A6-4E06-BF41-A1AF26D9A740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C1FB9F-B430-44BC-86C4-561805F0CB0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7F8E74-3E78-4FAD-84A8-0F86B5118C2F}"/>
              </a:ext>
            </a:extLst>
          </p:cNvPr>
          <p:cNvGrpSpPr/>
          <p:nvPr/>
        </p:nvGrpSpPr>
        <p:grpSpPr>
          <a:xfrm>
            <a:off x="-4944101" y="3908313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1552DC-1B30-45D4-8DF0-3D239643B3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F28792-11CD-4AED-89BD-AD8D8FA7C0CE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F072B30-1FFB-4D4A-9AB1-EAC6DE87A52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FB18C07-14A0-4AC4-86D8-E77588337026}"/>
              </a:ext>
            </a:extLst>
          </p:cNvPr>
          <p:cNvSpPr txBox="1"/>
          <p:nvPr/>
        </p:nvSpPr>
        <p:spPr>
          <a:xfrm>
            <a:off x="815283" y="201781"/>
            <a:ext cx="82922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entury Gothic" panose="020B0502020202020204" pitchFamily="34" charset="0"/>
              </a:rPr>
              <a:t>Use Case Diagram</a:t>
            </a:r>
            <a:r>
              <a:rPr lang="en-US" sz="2400" b="1" dirty="0">
                <a:latin typeface="Century Gothic" panose="020B0502020202020204" pitchFamily="34" charset="0"/>
              </a:rPr>
              <a:t>(Booking History &amp; </a:t>
            </a:r>
            <a:r>
              <a:rPr lang="en-US" sz="2400" b="1" dirty="0" err="1">
                <a:latin typeface="Century Gothic" panose="020B0502020202020204" pitchFamily="34" charset="0"/>
              </a:rPr>
              <a:t>Favourites</a:t>
            </a:r>
            <a:r>
              <a:rPr lang="en-US" sz="2400" b="1" dirty="0">
                <a:latin typeface="Century Gothic" panose="020B0502020202020204" pitchFamily="34" charset="0"/>
              </a:rPr>
              <a:t>)</a:t>
            </a:r>
            <a:endParaRPr lang="en-US" sz="2400" dirty="0">
              <a:latin typeface="Century Gothic" panose="020B0502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BF141B2-7B5E-43E0-925A-A4C49CD32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3949" y="1974066"/>
            <a:ext cx="24757301" cy="42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A632D9-A882-40ED-801D-68A1AA8E8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232" y="793979"/>
            <a:ext cx="4045005" cy="5834872"/>
          </a:xfrm>
          <a:prstGeom prst="roundRect">
            <a:avLst/>
          </a:prstGeom>
          <a:ln w="31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223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over/>
      </p:transition>
    </mc:Choice>
    <mc:Fallback xmlns="">
      <p:transition spd="slow">
        <p:cover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8998A39-4872-44B0-8683-9817B1123229}"/>
              </a:ext>
            </a:extLst>
          </p:cNvPr>
          <p:cNvGrpSpPr/>
          <p:nvPr/>
        </p:nvGrpSpPr>
        <p:grpSpPr>
          <a:xfrm rot="10800000">
            <a:off x="7495549" y="-3083037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2C70DB-8AA8-4D78-AD42-05B8DFDA4B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0BE186-71A6-4E06-BF41-A1AF26D9A740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C1FB9F-B430-44BC-86C4-561805F0CB0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7F8E74-3E78-4FAD-84A8-0F86B5118C2F}"/>
              </a:ext>
            </a:extLst>
          </p:cNvPr>
          <p:cNvGrpSpPr/>
          <p:nvPr/>
        </p:nvGrpSpPr>
        <p:grpSpPr>
          <a:xfrm>
            <a:off x="-5452816" y="3979146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1552DC-1B30-45D4-8DF0-3D239643B3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F28792-11CD-4AED-89BD-AD8D8FA7C0CE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F072B30-1FFB-4D4A-9AB1-EAC6DE87A52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67D7F4F-C09D-421A-9990-94D5CC86643C}"/>
              </a:ext>
            </a:extLst>
          </p:cNvPr>
          <p:cNvSpPr txBox="1"/>
          <p:nvPr/>
        </p:nvSpPr>
        <p:spPr>
          <a:xfrm>
            <a:off x="1704726" y="-3096186"/>
            <a:ext cx="38636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abcd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4A855-CC4F-4285-B54C-6035162D7953}"/>
              </a:ext>
            </a:extLst>
          </p:cNvPr>
          <p:cNvSpPr txBox="1"/>
          <p:nvPr/>
        </p:nvSpPr>
        <p:spPr>
          <a:xfrm>
            <a:off x="6001005" y="-2160020"/>
            <a:ext cx="43729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600"/>
              </a:spcAft>
            </a:pPr>
            <a:r>
              <a:rPr lang="en-US" sz="1600" dirty="0" err="1">
                <a:latin typeface="Century Gothic" panose="020B0502020202020204" pitchFamily="34" charset="0"/>
              </a:rPr>
              <a:t>efgh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32934B-6DA6-4DC2-964E-9345E7686CE2}"/>
              </a:ext>
            </a:extLst>
          </p:cNvPr>
          <p:cNvSpPr txBox="1"/>
          <p:nvPr/>
        </p:nvSpPr>
        <p:spPr>
          <a:xfrm>
            <a:off x="1860083" y="2786054"/>
            <a:ext cx="77154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Class Diagram</a:t>
            </a:r>
            <a:endParaRPr lang="en-US" sz="48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731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8998A39-4872-44B0-8683-9817B1123229}"/>
              </a:ext>
            </a:extLst>
          </p:cNvPr>
          <p:cNvGrpSpPr/>
          <p:nvPr/>
        </p:nvGrpSpPr>
        <p:grpSpPr>
          <a:xfrm rot="10800000">
            <a:off x="7495549" y="-3083037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2C70DB-8AA8-4D78-AD42-05B8DFDA4B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0BE186-71A6-4E06-BF41-A1AF26D9A740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C1FB9F-B430-44BC-86C4-561805F0CB0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7F8E74-3E78-4FAD-84A8-0F86B5118C2F}"/>
              </a:ext>
            </a:extLst>
          </p:cNvPr>
          <p:cNvGrpSpPr/>
          <p:nvPr/>
        </p:nvGrpSpPr>
        <p:grpSpPr>
          <a:xfrm>
            <a:off x="-5452816" y="3979146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1552DC-1B30-45D4-8DF0-3D239643B3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F28792-11CD-4AED-89BD-AD8D8FA7C0CE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F072B30-1FFB-4D4A-9AB1-EAC6DE87A52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67D7F4F-C09D-421A-9990-94D5CC86643C}"/>
              </a:ext>
            </a:extLst>
          </p:cNvPr>
          <p:cNvSpPr txBox="1"/>
          <p:nvPr/>
        </p:nvSpPr>
        <p:spPr>
          <a:xfrm>
            <a:off x="3894157" y="2018415"/>
            <a:ext cx="4967856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n-US" sz="3200" b="1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Divisions of classes: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1F1F"/>
                </a:solidFill>
                <a:latin typeface="Century Gothic" panose="020B0502020202020204" pitchFamily="34" charset="0"/>
              </a:rPr>
              <a:t>User Hierarchy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Hotel &amp; Rooms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1F1F"/>
                </a:solidFill>
                <a:latin typeface="Century Gothic" panose="020B0502020202020204" pitchFamily="34" charset="0"/>
              </a:rPr>
              <a:t>Booking &amp; Payment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Review, Rating &amp; </a:t>
            </a:r>
            <a:r>
              <a:rPr lang="en-US" sz="2000" i="0" u="none" strike="noStrike" dirty="0" err="1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Favourites</a:t>
            </a:r>
            <a:endParaRPr lang="en-US" sz="2000" i="0" u="none" strike="noStrike" dirty="0">
              <a:solidFill>
                <a:srgbClr val="1F1F1F"/>
              </a:solidFill>
              <a:effectLst/>
              <a:latin typeface="Century Gothic" panose="020B0502020202020204" pitchFamily="34" charset="0"/>
            </a:endParaRP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1F1F1F"/>
                </a:solidFill>
                <a:latin typeface="Century Gothic" panose="020B0502020202020204" pitchFamily="34" charset="0"/>
              </a:rPr>
              <a:t>Service Classes</a:t>
            </a:r>
            <a:endParaRPr lang="en-US" sz="2000" i="0" u="none" strike="noStrike" dirty="0">
              <a:solidFill>
                <a:srgbClr val="1F1F1F"/>
              </a:solidFill>
              <a:effectLst/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2000" b="0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30509A-B3D1-45F3-8A07-A07FF78BB7F4}"/>
              </a:ext>
            </a:extLst>
          </p:cNvPr>
          <p:cNvSpPr txBox="1"/>
          <p:nvPr/>
        </p:nvSpPr>
        <p:spPr>
          <a:xfrm>
            <a:off x="432710" y="489614"/>
            <a:ext cx="7715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Class Diagram</a:t>
            </a:r>
            <a:endParaRPr lang="en-US" sz="3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147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8998A39-4872-44B0-8683-9817B1123229}"/>
              </a:ext>
            </a:extLst>
          </p:cNvPr>
          <p:cNvGrpSpPr/>
          <p:nvPr/>
        </p:nvGrpSpPr>
        <p:grpSpPr>
          <a:xfrm rot="10800000">
            <a:off x="7495549" y="-3083037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2C70DB-8AA8-4D78-AD42-05B8DFDA4B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0BE186-71A6-4E06-BF41-A1AF26D9A740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C1FB9F-B430-44BC-86C4-561805F0CB0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7F8E74-3E78-4FAD-84A8-0F86B5118C2F}"/>
              </a:ext>
            </a:extLst>
          </p:cNvPr>
          <p:cNvGrpSpPr/>
          <p:nvPr/>
        </p:nvGrpSpPr>
        <p:grpSpPr>
          <a:xfrm>
            <a:off x="-5452816" y="3979146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1552DC-1B30-45D4-8DF0-3D239643B3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F28792-11CD-4AED-89BD-AD8D8FA7C0CE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F072B30-1FFB-4D4A-9AB1-EAC6DE87A52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67D7F4F-C09D-421A-9990-94D5CC86643C}"/>
              </a:ext>
            </a:extLst>
          </p:cNvPr>
          <p:cNvSpPr txBox="1"/>
          <p:nvPr/>
        </p:nvSpPr>
        <p:spPr>
          <a:xfrm>
            <a:off x="1704726" y="1410920"/>
            <a:ext cx="386366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Divisions of classes: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1D68FF"/>
                </a:solidFill>
                <a:latin typeface="Century Gothic" panose="020B0502020202020204" pitchFamily="34" charset="0"/>
              </a:rPr>
              <a:t>User Hierarchy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Hotel &amp; Rooms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1F1F1F"/>
                </a:solidFill>
                <a:latin typeface="Century Gothic" panose="020B0502020202020204" pitchFamily="34" charset="0"/>
              </a:rPr>
              <a:t>Booking &amp; Payment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Review, Rating &amp; </a:t>
            </a:r>
            <a:r>
              <a:rPr lang="en-US" sz="1600" i="0" u="none" strike="noStrike" dirty="0" err="1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Favourites</a:t>
            </a:r>
            <a:endParaRPr lang="en-US" sz="1600" i="0" u="none" strike="noStrike" dirty="0">
              <a:solidFill>
                <a:srgbClr val="1F1F1F"/>
              </a:solidFill>
              <a:effectLst/>
              <a:latin typeface="Century Gothic" panose="020B0502020202020204" pitchFamily="34" charset="0"/>
            </a:endParaRP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1F1F1F"/>
                </a:solidFill>
                <a:latin typeface="Century Gothic" panose="020B0502020202020204" pitchFamily="34" charset="0"/>
              </a:rPr>
              <a:t>Service Classes</a:t>
            </a:r>
            <a:endParaRPr lang="en-US" sz="1600" i="0" u="none" strike="noStrike" dirty="0">
              <a:solidFill>
                <a:srgbClr val="1F1F1F"/>
              </a:solidFill>
              <a:effectLst/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4A855-CC4F-4285-B54C-6035162D7953}"/>
              </a:ext>
            </a:extLst>
          </p:cNvPr>
          <p:cNvSpPr txBox="1"/>
          <p:nvPr/>
        </p:nvSpPr>
        <p:spPr>
          <a:xfrm>
            <a:off x="6001005" y="1424991"/>
            <a:ext cx="22412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600"/>
              </a:spcAft>
            </a:pPr>
            <a:r>
              <a:rPr lang="en-US" sz="2400" b="1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Classes:</a:t>
            </a:r>
          </a:p>
          <a:p>
            <a:pPr rtl="0">
              <a:spcBef>
                <a:spcPts val="0"/>
              </a:spcBef>
              <a:spcAft>
                <a:spcPts val="600"/>
              </a:spcAft>
            </a:pPr>
            <a:endParaRPr lang="en-US" sz="1600" b="1" i="0" u="none" strike="noStrike" dirty="0">
              <a:solidFill>
                <a:srgbClr val="1F1F1F"/>
              </a:solidFill>
              <a:effectLst/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User</a:t>
            </a: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Reg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isteredUser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GuestUser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HotelAdmin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rtl="0">
              <a:spcBef>
                <a:spcPts val="1200"/>
              </a:spcBef>
              <a:spcAft>
                <a:spcPts val="600"/>
              </a:spcAft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30509A-B3D1-45F3-8A07-A07FF78BB7F4}"/>
              </a:ext>
            </a:extLst>
          </p:cNvPr>
          <p:cNvSpPr txBox="1"/>
          <p:nvPr/>
        </p:nvSpPr>
        <p:spPr>
          <a:xfrm>
            <a:off x="432710" y="489614"/>
            <a:ext cx="7715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Class Diagram</a:t>
            </a:r>
            <a:endParaRPr lang="en-US" sz="3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784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8998A39-4872-44B0-8683-9817B1123229}"/>
              </a:ext>
            </a:extLst>
          </p:cNvPr>
          <p:cNvGrpSpPr/>
          <p:nvPr/>
        </p:nvGrpSpPr>
        <p:grpSpPr>
          <a:xfrm rot="10800000">
            <a:off x="7495549" y="-3083037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2C70DB-8AA8-4D78-AD42-05B8DFDA4B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0BE186-71A6-4E06-BF41-A1AF26D9A740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C1FB9F-B430-44BC-86C4-561805F0CB0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7F8E74-3E78-4FAD-84A8-0F86B5118C2F}"/>
              </a:ext>
            </a:extLst>
          </p:cNvPr>
          <p:cNvGrpSpPr/>
          <p:nvPr/>
        </p:nvGrpSpPr>
        <p:grpSpPr>
          <a:xfrm>
            <a:off x="-5452816" y="3979146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1552DC-1B30-45D4-8DF0-3D239643B3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F28792-11CD-4AED-89BD-AD8D8FA7C0CE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F072B30-1FFB-4D4A-9AB1-EAC6DE87A52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67D7F4F-C09D-421A-9990-94D5CC86643C}"/>
              </a:ext>
            </a:extLst>
          </p:cNvPr>
          <p:cNvSpPr txBox="1"/>
          <p:nvPr/>
        </p:nvSpPr>
        <p:spPr>
          <a:xfrm>
            <a:off x="1704726" y="1410920"/>
            <a:ext cx="386366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Divisions of classes: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1F1F1F"/>
                </a:solidFill>
                <a:latin typeface="Century Gothic" panose="020B0502020202020204" pitchFamily="34" charset="0"/>
              </a:rPr>
              <a:t>User Hierarchy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b="1" i="0" u="none" strike="noStrike" dirty="0">
                <a:solidFill>
                  <a:srgbClr val="1D68FF"/>
                </a:solidFill>
                <a:effectLst/>
                <a:latin typeface="Century Gothic" panose="020B0502020202020204" pitchFamily="34" charset="0"/>
              </a:rPr>
              <a:t>Hotel &amp; Rooms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1F1F1F"/>
                </a:solidFill>
                <a:latin typeface="Century Gothic" panose="020B0502020202020204" pitchFamily="34" charset="0"/>
              </a:rPr>
              <a:t>Booking &amp; Payment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Review, Rating &amp; </a:t>
            </a:r>
            <a:r>
              <a:rPr lang="en-US" sz="1600" i="0" u="none" strike="noStrike" dirty="0" err="1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Favourites</a:t>
            </a:r>
            <a:endParaRPr lang="en-US" sz="1600" i="0" u="none" strike="noStrike" dirty="0">
              <a:solidFill>
                <a:srgbClr val="1F1F1F"/>
              </a:solidFill>
              <a:effectLst/>
              <a:latin typeface="Century Gothic" panose="020B0502020202020204" pitchFamily="34" charset="0"/>
            </a:endParaRP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1F1F1F"/>
                </a:solidFill>
                <a:latin typeface="Century Gothic" panose="020B0502020202020204" pitchFamily="34" charset="0"/>
              </a:rPr>
              <a:t>Service Classes</a:t>
            </a:r>
            <a:endParaRPr lang="en-US" sz="1600" i="0" u="none" strike="noStrike" dirty="0">
              <a:solidFill>
                <a:srgbClr val="1F1F1F"/>
              </a:solidFill>
              <a:effectLst/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4A855-CC4F-4285-B54C-6035162D7953}"/>
              </a:ext>
            </a:extLst>
          </p:cNvPr>
          <p:cNvSpPr txBox="1"/>
          <p:nvPr/>
        </p:nvSpPr>
        <p:spPr>
          <a:xfrm>
            <a:off x="6001005" y="1424990"/>
            <a:ext cx="4372927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600"/>
              </a:spcAft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Classes:</a:t>
            </a:r>
          </a:p>
          <a:p>
            <a:pPr rtl="0">
              <a:spcBef>
                <a:spcPts val="0"/>
              </a:spcBef>
              <a:spcAft>
                <a:spcPts val="600"/>
              </a:spcAft>
            </a:pPr>
            <a:endParaRPr lang="en-US" sz="1600" b="1" i="0" u="none" strike="noStrike" dirty="0">
              <a:solidFill>
                <a:srgbClr val="1F1F1F"/>
              </a:solidFill>
              <a:effectLst/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Hotel</a:t>
            </a: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Room</a:t>
            </a: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RoomAvailability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Policy</a:t>
            </a: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Deal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30509A-B3D1-45F3-8A07-A07FF78BB7F4}"/>
              </a:ext>
            </a:extLst>
          </p:cNvPr>
          <p:cNvSpPr txBox="1"/>
          <p:nvPr/>
        </p:nvSpPr>
        <p:spPr>
          <a:xfrm>
            <a:off x="432710" y="489614"/>
            <a:ext cx="7715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Class Diagram</a:t>
            </a:r>
            <a:endParaRPr lang="en-US" sz="3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588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8998A39-4872-44B0-8683-9817B1123229}"/>
              </a:ext>
            </a:extLst>
          </p:cNvPr>
          <p:cNvGrpSpPr/>
          <p:nvPr/>
        </p:nvGrpSpPr>
        <p:grpSpPr>
          <a:xfrm rot="10800000">
            <a:off x="7495549" y="-3083037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2C70DB-8AA8-4D78-AD42-05B8DFDA4B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0BE186-71A6-4E06-BF41-A1AF26D9A740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C1FB9F-B430-44BC-86C4-561805F0CB0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7F8E74-3E78-4FAD-84A8-0F86B5118C2F}"/>
              </a:ext>
            </a:extLst>
          </p:cNvPr>
          <p:cNvGrpSpPr/>
          <p:nvPr/>
        </p:nvGrpSpPr>
        <p:grpSpPr>
          <a:xfrm>
            <a:off x="-5452816" y="3979146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1552DC-1B30-45D4-8DF0-3D239643B3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F28792-11CD-4AED-89BD-AD8D8FA7C0CE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F072B30-1FFB-4D4A-9AB1-EAC6DE87A52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67D7F4F-C09D-421A-9990-94D5CC86643C}"/>
              </a:ext>
            </a:extLst>
          </p:cNvPr>
          <p:cNvSpPr txBox="1"/>
          <p:nvPr/>
        </p:nvSpPr>
        <p:spPr>
          <a:xfrm>
            <a:off x="1704726" y="1410920"/>
            <a:ext cx="386366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Divisions of classes: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1F1F1F"/>
                </a:solidFill>
                <a:latin typeface="Century Gothic" panose="020B0502020202020204" pitchFamily="34" charset="0"/>
              </a:rPr>
              <a:t>User Hierarchy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Hotel &amp; Rooms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1D68FF"/>
                </a:solidFill>
                <a:latin typeface="Century Gothic" panose="020B0502020202020204" pitchFamily="34" charset="0"/>
              </a:rPr>
              <a:t>Booking &amp; Payment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Review, Rating &amp; </a:t>
            </a:r>
            <a:r>
              <a:rPr lang="en-US" sz="1600" i="0" u="none" strike="noStrike" dirty="0" err="1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Favourites</a:t>
            </a:r>
            <a:endParaRPr lang="en-US" sz="1600" i="0" u="none" strike="noStrike" dirty="0">
              <a:solidFill>
                <a:srgbClr val="1F1F1F"/>
              </a:solidFill>
              <a:effectLst/>
              <a:latin typeface="Century Gothic" panose="020B0502020202020204" pitchFamily="34" charset="0"/>
            </a:endParaRP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1F1F1F"/>
                </a:solidFill>
                <a:latin typeface="Century Gothic" panose="020B0502020202020204" pitchFamily="34" charset="0"/>
              </a:rPr>
              <a:t>Service Classes</a:t>
            </a:r>
            <a:endParaRPr lang="en-US" sz="1600" i="0" u="none" strike="noStrike" dirty="0">
              <a:solidFill>
                <a:srgbClr val="1F1F1F"/>
              </a:solidFill>
              <a:effectLst/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4A855-CC4F-4285-B54C-6035162D7953}"/>
              </a:ext>
            </a:extLst>
          </p:cNvPr>
          <p:cNvSpPr txBox="1"/>
          <p:nvPr/>
        </p:nvSpPr>
        <p:spPr>
          <a:xfrm>
            <a:off x="6001005" y="1424990"/>
            <a:ext cx="4372927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600"/>
              </a:spcAft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Classes:</a:t>
            </a:r>
          </a:p>
          <a:p>
            <a:pPr rtl="0">
              <a:spcBef>
                <a:spcPts val="0"/>
              </a:spcBef>
              <a:spcAft>
                <a:spcPts val="600"/>
              </a:spcAft>
            </a:pP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Booking </a:t>
            </a: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GuestDetails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Payment</a:t>
            </a: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Refund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PaymentGateway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Status(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enum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30509A-B3D1-45F3-8A07-A07FF78BB7F4}"/>
              </a:ext>
            </a:extLst>
          </p:cNvPr>
          <p:cNvSpPr txBox="1"/>
          <p:nvPr/>
        </p:nvSpPr>
        <p:spPr>
          <a:xfrm>
            <a:off x="432710" y="489614"/>
            <a:ext cx="7715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Class Diagram</a:t>
            </a:r>
            <a:endParaRPr lang="en-US" sz="3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249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8998A39-4872-44B0-8683-9817B1123229}"/>
              </a:ext>
            </a:extLst>
          </p:cNvPr>
          <p:cNvGrpSpPr/>
          <p:nvPr/>
        </p:nvGrpSpPr>
        <p:grpSpPr>
          <a:xfrm rot="10800000">
            <a:off x="7495549" y="-3083037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2C70DB-8AA8-4D78-AD42-05B8DFDA4B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0BE186-71A6-4E06-BF41-A1AF26D9A740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C1FB9F-B430-44BC-86C4-561805F0CB0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7F8E74-3E78-4FAD-84A8-0F86B5118C2F}"/>
              </a:ext>
            </a:extLst>
          </p:cNvPr>
          <p:cNvGrpSpPr/>
          <p:nvPr/>
        </p:nvGrpSpPr>
        <p:grpSpPr>
          <a:xfrm>
            <a:off x="-5452816" y="3979146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1552DC-1B30-45D4-8DF0-3D239643B3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F28792-11CD-4AED-89BD-AD8D8FA7C0CE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F072B30-1FFB-4D4A-9AB1-EAC6DE87A52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67D7F4F-C09D-421A-9990-94D5CC86643C}"/>
              </a:ext>
            </a:extLst>
          </p:cNvPr>
          <p:cNvSpPr txBox="1"/>
          <p:nvPr/>
        </p:nvSpPr>
        <p:spPr>
          <a:xfrm>
            <a:off x="1704726" y="1410920"/>
            <a:ext cx="386366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Divisions of classes: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1F1F1F"/>
                </a:solidFill>
                <a:latin typeface="Century Gothic" panose="020B0502020202020204" pitchFamily="34" charset="0"/>
              </a:rPr>
              <a:t>User Hierarchy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Hotel &amp; Rooms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1F1F1F"/>
                </a:solidFill>
                <a:latin typeface="Century Gothic" panose="020B0502020202020204" pitchFamily="34" charset="0"/>
              </a:rPr>
              <a:t>Booking &amp; Payment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b="1" i="0" u="none" strike="noStrike" dirty="0">
                <a:solidFill>
                  <a:srgbClr val="1D68FF"/>
                </a:solidFill>
                <a:effectLst/>
                <a:latin typeface="Century Gothic" panose="020B0502020202020204" pitchFamily="34" charset="0"/>
              </a:rPr>
              <a:t>Review, Rating &amp; </a:t>
            </a:r>
            <a:r>
              <a:rPr lang="en-US" sz="1600" b="1" i="0" u="none" strike="noStrike" dirty="0" err="1">
                <a:solidFill>
                  <a:srgbClr val="1D68FF"/>
                </a:solidFill>
                <a:effectLst/>
                <a:latin typeface="Century Gothic" panose="020B0502020202020204" pitchFamily="34" charset="0"/>
              </a:rPr>
              <a:t>Favourites</a:t>
            </a:r>
            <a:endParaRPr lang="en-US" sz="1600" b="1" i="0" u="none" strike="noStrike" dirty="0">
              <a:solidFill>
                <a:srgbClr val="1D68FF"/>
              </a:solidFill>
              <a:effectLst/>
              <a:latin typeface="Century Gothic" panose="020B0502020202020204" pitchFamily="34" charset="0"/>
            </a:endParaRP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1F1F1F"/>
                </a:solidFill>
                <a:latin typeface="Century Gothic" panose="020B0502020202020204" pitchFamily="34" charset="0"/>
              </a:rPr>
              <a:t>Service Classes</a:t>
            </a:r>
            <a:endParaRPr lang="en-US" sz="1600" i="0" u="none" strike="noStrike" dirty="0">
              <a:solidFill>
                <a:srgbClr val="1F1F1F"/>
              </a:solidFill>
              <a:effectLst/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4A855-CC4F-4285-B54C-6035162D7953}"/>
              </a:ext>
            </a:extLst>
          </p:cNvPr>
          <p:cNvSpPr txBox="1"/>
          <p:nvPr/>
        </p:nvSpPr>
        <p:spPr>
          <a:xfrm>
            <a:off x="6001005" y="1424990"/>
            <a:ext cx="437292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600"/>
              </a:spcAft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Classes:</a:t>
            </a:r>
          </a:p>
          <a:p>
            <a:pPr rtl="0">
              <a:spcBef>
                <a:spcPts val="0"/>
              </a:spcBef>
              <a:spcAft>
                <a:spcPts val="600"/>
              </a:spcAft>
            </a:pPr>
            <a:endParaRPr lang="en-US" sz="1600" b="1" i="0" u="none" strike="noStrike" dirty="0">
              <a:solidFill>
                <a:srgbClr val="1F1F1F"/>
              </a:solidFill>
              <a:effectLst/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Review</a:t>
            </a: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Rating</a:t>
            </a: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Favourite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30509A-B3D1-45F3-8A07-A07FF78BB7F4}"/>
              </a:ext>
            </a:extLst>
          </p:cNvPr>
          <p:cNvSpPr txBox="1"/>
          <p:nvPr/>
        </p:nvSpPr>
        <p:spPr>
          <a:xfrm>
            <a:off x="432710" y="489614"/>
            <a:ext cx="7715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Class Diagram</a:t>
            </a:r>
            <a:endParaRPr lang="en-US" sz="3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037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8998A39-4872-44B0-8683-9817B1123229}"/>
              </a:ext>
            </a:extLst>
          </p:cNvPr>
          <p:cNvGrpSpPr/>
          <p:nvPr/>
        </p:nvGrpSpPr>
        <p:grpSpPr>
          <a:xfrm rot="10800000">
            <a:off x="7495549" y="-3083037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2C70DB-8AA8-4D78-AD42-05B8DFDA4B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0BE186-71A6-4E06-BF41-A1AF26D9A740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C1FB9F-B430-44BC-86C4-561805F0CB0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7F8E74-3E78-4FAD-84A8-0F86B5118C2F}"/>
              </a:ext>
            </a:extLst>
          </p:cNvPr>
          <p:cNvGrpSpPr/>
          <p:nvPr/>
        </p:nvGrpSpPr>
        <p:grpSpPr>
          <a:xfrm>
            <a:off x="-5452816" y="3979146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1552DC-1B30-45D4-8DF0-3D239643B3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F28792-11CD-4AED-89BD-AD8D8FA7C0CE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F072B30-1FFB-4D4A-9AB1-EAC6DE87A52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67D7F4F-C09D-421A-9990-94D5CC86643C}"/>
              </a:ext>
            </a:extLst>
          </p:cNvPr>
          <p:cNvSpPr txBox="1"/>
          <p:nvPr/>
        </p:nvSpPr>
        <p:spPr>
          <a:xfrm>
            <a:off x="1704726" y="1410920"/>
            <a:ext cx="386366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0"/>
              </a:spcBef>
              <a:spcAft>
                <a:spcPts val="600"/>
              </a:spcAft>
            </a:pPr>
            <a:r>
              <a:rPr lang="en-US" sz="2400" b="1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Divisions of classes: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1F1F1F"/>
                </a:solidFill>
                <a:latin typeface="Century Gothic" panose="020B0502020202020204" pitchFamily="34" charset="0"/>
              </a:rPr>
              <a:t>User Hierarchy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Hotel &amp; Rooms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1F1F1F"/>
                </a:solidFill>
                <a:latin typeface="Century Gothic" panose="020B0502020202020204" pitchFamily="34" charset="0"/>
              </a:rPr>
              <a:t>Booking &amp; Payment</a:t>
            </a: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Review, Rating &amp; </a:t>
            </a:r>
            <a:r>
              <a:rPr lang="en-US" sz="1600" i="0" u="none" strike="noStrike" dirty="0" err="1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Favourites</a:t>
            </a:r>
            <a:endParaRPr lang="en-US" sz="1600" i="0" u="none" strike="noStrike" dirty="0">
              <a:solidFill>
                <a:srgbClr val="1F1F1F"/>
              </a:solidFill>
              <a:effectLst/>
              <a:latin typeface="Century Gothic" panose="020B0502020202020204" pitchFamily="34" charset="0"/>
            </a:endParaRPr>
          </a:p>
          <a:p>
            <a:pPr marL="742950" lvl="1" indent="-285750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600" b="1" dirty="0">
                <a:solidFill>
                  <a:srgbClr val="1D68FF"/>
                </a:solidFill>
                <a:latin typeface="Century Gothic" panose="020B0502020202020204" pitchFamily="34" charset="0"/>
              </a:rPr>
              <a:t>Service Classes</a:t>
            </a:r>
            <a:endParaRPr lang="en-US" sz="1600" b="1" i="0" u="none" strike="noStrike" dirty="0">
              <a:solidFill>
                <a:srgbClr val="1D68FF"/>
              </a:solidFill>
              <a:effectLst/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D4A855-CC4F-4285-B54C-6035162D7953}"/>
              </a:ext>
            </a:extLst>
          </p:cNvPr>
          <p:cNvSpPr txBox="1"/>
          <p:nvPr/>
        </p:nvSpPr>
        <p:spPr>
          <a:xfrm>
            <a:off x="6001005" y="1424990"/>
            <a:ext cx="437292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spcBef>
                <a:spcPts val="1200"/>
              </a:spcBef>
              <a:spcAft>
                <a:spcPts val="600"/>
              </a:spcAft>
            </a:pPr>
            <a:r>
              <a:rPr lang="en-US" sz="2000" b="1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Classes:</a:t>
            </a:r>
          </a:p>
          <a:p>
            <a:pPr rtl="0">
              <a:spcBef>
                <a:spcPts val="0"/>
              </a:spcBef>
              <a:spcAft>
                <a:spcPts val="600"/>
              </a:spcAft>
            </a:pPr>
            <a:endParaRPr lang="en-US" sz="1600" b="1" i="0" u="none" strike="noStrike" dirty="0">
              <a:solidFill>
                <a:srgbClr val="1F1F1F"/>
              </a:solidFill>
              <a:effectLst/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</a:rPr>
              <a:t>Filter</a:t>
            </a: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SearchService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BookingService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PaymentService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b="0" i="0" u="none" strike="noStrike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ReviewAndRatingService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marL="285750" indent="-285750" rtl="0"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</a:rPr>
              <a:t>RecommendationService</a:t>
            </a:r>
            <a:endParaRPr lang="en-US" sz="1600" b="0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  <a:p>
            <a:pPr rtl="0">
              <a:spcBef>
                <a:spcPts val="1200"/>
              </a:spcBef>
              <a:spcAft>
                <a:spcPts val="600"/>
              </a:spcAft>
            </a:pPr>
            <a:endParaRPr lang="en-US" sz="1600" b="0" i="0" u="none" strike="noStrike" dirty="0">
              <a:solidFill>
                <a:srgbClr val="000000"/>
              </a:solidFill>
              <a:effectLst/>
              <a:latin typeface="Century Gothic" panose="020B0502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30509A-B3D1-45F3-8A07-A07FF78BB7F4}"/>
              </a:ext>
            </a:extLst>
          </p:cNvPr>
          <p:cNvSpPr txBox="1"/>
          <p:nvPr/>
        </p:nvSpPr>
        <p:spPr>
          <a:xfrm>
            <a:off x="432710" y="489614"/>
            <a:ext cx="77154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i="0" u="none" strike="noStrike" dirty="0">
                <a:solidFill>
                  <a:srgbClr val="1F1F1F"/>
                </a:solidFill>
                <a:effectLst/>
                <a:latin typeface="Century Gothic" panose="020B0502020202020204" pitchFamily="34" charset="0"/>
              </a:rPr>
              <a:t>Class Diagram</a:t>
            </a:r>
            <a:endParaRPr lang="en-US" sz="3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018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8998A39-4872-44B0-8683-9817B1123229}"/>
              </a:ext>
            </a:extLst>
          </p:cNvPr>
          <p:cNvGrpSpPr/>
          <p:nvPr/>
        </p:nvGrpSpPr>
        <p:grpSpPr>
          <a:xfrm rot="10800000">
            <a:off x="7495549" y="-3083037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2C70DB-8AA8-4D78-AD42-05B8DFDA4B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0BE186-71A6-4E06-BF41-A1AF26D9A740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C1FB9F-B430-44BC-86C4-561805F0CB0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7F8E74-3E78-4FAD-84A8-0F86B5118C2F}"/>
              </a:ext>
            </a:extLst>
          </p:cNvPr>
          <p:cNvGrpSpPr/>
          <p:nvPr/>
        </p:nvGrpSpPr>
        <p:grpSpPr>
          <a:xfrm>
            <a:off x="-5234387" y="4169570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1552DC-1B30-45D4-8DF0-3D239643B3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F28792-11CD-4AED-89BD-AD8D8FA7C0CE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F072B30-1FFB-4D4A-9AB1-EAC6DE87A52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FB18C07-14A0-4AC4-86D8-E77588337026}"/>
              </a:ext>
            </a:extLst>
          </p:cNvPr>
          <p:cNvSpPr txBox="1"/>
          <p:nvPr/>
        </p:nvSpPr>
        <p:spPr>
          <a:xfrm>
            <a:off x="2900124" y="172530"/>
            <a:ext cx="5467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1D68FF"/>
                </a:solidFill>
                <a:latin typeface="Century Gothic" panose="020B0502020202020204" pitchFamily="34" charset="0"/>
              </a:rPr>
              <a:t>Trip</a:t>
            </a:r>
            <a:r>
              <a:rPr lang="en-US" sz="36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.</a:t>
            </a:r>
            <a:r>
              <a:rPr lang="en-US" sz="3600" b="1" dirty="0">
                <a:solidFill>
                  <a:srgbClr val="1D68FF"/>
                </a:solidFill>
                <a:latin typeface="Century Gothic" panose="020B0502020202020204" pitchFamily="34" charset="0"/>
              </a:rPr>
              <a:t>com</a:t>
            </a:r>
            <a:r>
              <a:rPr lang="en-US" sz="3600" b="1" dirty="0">
                <a:latin typeface="Century Gothic" panose="020B0502020202020204" pitchFamily="34" charset="0"/>
              </a:rPr>
              <a:t> Class Diagram</a:t>
            </a:r>
            <a:endParaRPr lang="en-US" sz="3200" dirty="0">
              <a:latin typeface="Century Gothic" panose="020B0502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2BF141B2-7B5E-43E0-925A-A4C49CD32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3949" y="1974066"/>
            <a:ext cx="24757301" cy="421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783B8871-F46D-471A-B9EF-6A8B828C3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850" y="876309"/>
            <a:ext cx="12009215" cy="580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140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4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38998A39-4872-44B0-8683-9817B1123229}"/>
              </a:ext>
            </a:extLst>
          </p:cNvPr>
          <p:cNvGrpSpPr/>
          <p:nvPr/>
        </p:nvGrpSpPr>
        <p:grpSpPr>
          <a:xfrm rot="10800000">
            <a:off x="7495549" y="-3083037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32C70DB-8AA8-4D78-AD42-05B8DFDA4B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40BE186-71A6-4E06-BF41-A1AF26D9A740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C1FB9F-B430-44BC-86C4-561805F0CB0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57F8E74-3E78-4FAD-84A8-0F86B5118C2F}"/>
              </a:ext>
            </a:extLst>
          </p:cNvPr>
          <p:cNvGrpSpPr/>
          <p:nvPr/>
        </p:nvGrpSpPr>
        <p:grpSpPr>
          <a:xfrm>
            <a:off x="-4944101" y="3908313"/>
            <a:ext cx="9392903" cy="6166075"/>
            <a:chOff x="6608468" y="-2049944"/>
            <a:chExt cx="9392903" cy="6166075"/>
          </a:xfrm>
          <a:solidFill>
            <a:srgbClr val="002060"/>
          </a:solidFill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01552DC-1B30-45D4-8DF0-3D239643B3D0}"/>
                </a:ext>
              </a:extLst>
            </p:cNvPr>
            <p:cNvSpPr/>
            <p:nvPr/>
          </p:nvSpPr>
          <p:spPr>
            <a:xfrm rot="19012035">
              <a:off x="6693529" y="999515"/>
              <a:ext cx="7014754" cy="21292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1F28792-11CD-4AED-89BD-AD8D8FA7C0CE}"/>
                </a:ext>
              </a:extLst>
            </p:cNvPr>
            <p:cNvSpPr/>
            <p:nvPr/>
          </p:nvSpPr>
          <p:spPr>
            <a:xfrm rot="19012035">
              <a:off x="8986617" y="1986886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F072B30-1FFB-4D4A-9AB1-EAC6DE87A52E}"/>
                </a:ext>
              </a:extLst>
            </p:cNvPr>
            <p:cNvSpPr/>
            <p:nvPr/>
          </p:nvSpPr>
          <p:spPr>
            <a:xfrm rot="19012035">
              <a:off x="6608468" y="-2049944"/>
              <a:ext cx="7014754" cy="212924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E62F939-CF56-4368-8B5F-051F613BFF68}"/>
              </a:ext>
            </a:extLst>
          </p:cNvPr>
          <p:cNvSpPr txBox="1"/>
          <p:nvPr/>
        </p:nvSpPr>
        <p:spPr>
          <a:xfrm>
            <a:off x="2808543" y="2786407"/>
            <a:ext cx="6574914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THANK YOU!</a:t>
            </a:r>
          </a:p>
          <a:p>
            <a:pPr algn="ctr"/>
            <a:r>
              <a:rPr lang="en-US" sz="5400" b="1" dirty="0">
                <a:latin typeface="MS Gothic" panose="020B0609070205080204" pitchFamily="49" charset="-128"/>
                <a:ea typeface="MS Gothic" panose="020B0609070205080204" pitchFamily="49" charset="-128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752917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1623</TotalTime>
  <Words>377</Words>
  <Application>Microsoft Office PowerPoint</Application>
  <PresentationFormat>Widescreen</PresentationFormat>
  <Paragraphs>138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MS Gothic</vt:lpstr>
      <vt:lpstr>Arial</vt:lpstr>
      <vt:lpstr>Calibri</vt:lpstr>
      <vt:lpstr>Calibri Light</vt:lpstr>
      <vt:lpstr>Century Gothic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2105068 - Anika Morshed</dc:creator>
  <cp:lastModifiedBy>2105068 - Anika Morshed</cp:lastModifiedBy>
  <cp:revision>13</cp:revision>
  <dcterms:created xsi:type="dcterms:W3CDTF">2025-12-30T10:41:15Z</dcterms:created>
  <dcterms:modified xsi:type="dcterms:W3CDTF">2026-01-09T09:22:05Z</dcterms:modified>
</cp:coreProperties>
</file>
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256" r:id="rId5"/>
    <p:sldId id="257" r:id="rId6"/>
    <p:sldId id="289" r:id="rId7"/>
    <p:sldId id="288" r:id="rId8"/>
    <p:sldId id="309" r:id="rId9"/>
    <p:sldId id="299" r:id="rId10"/>
    <p:sldId id="302" r:id="rId11"/>
    <p:sldId id="300" r:id="rId12"/>
    <p:sldId id="303" r:id="rId13"/>
    <p:sldId id="305" r:id="rId14"/>
    <p:sldId id="304" r:id="rId15"/>
    <p:sldId id="306" r:id="rId16"/>
    <p:sldId id="307" r:id="rId17"/>
    <p:sldId id="308" r:id="rId18"/>
    <p:sldId id="29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8FF"/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5646" autoAdjust="0"/>
  </p:normalViewPr>
  <p:slideViewPr>
    <p:cSldViewPr snapToGrid="0">
      <p:cViewPr>
        <p:scale>
          <a:sx n="75" d="100"/>
          <a:sy n="75" d="100"/>
        </p:scale>
        <p:origin x="931" y="331"/>
      </p:cViewPr>
      <p:guideLst/>
    </p:cSldViewPr>
  </p:slideViewPr>
  <p:outlineViewPr>
    <p:cViewPr>
      <p:scale>
        <a:sx n="33" d="100"/>
        <a:sy n="33" d="100"/>
      </p:scale>
      <p:origin x="0" y="-576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58" d="100"/>
          <a:sy n="58" d="100"/>
        </p:scale>
        <p:origin x="2371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commentAuthors" Target="commentAuthors.xml"/><Relationship Id="rId27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B8B65A-D69F-C26C-B67E-036EF77BF1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2B9064-AE57-427F-E5AF-71DE7D52FE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8190EA-5EEC-4300-B6AE-D9734C6C648E}" type="datetimeFigureOut">
              <a:rPr lang="en-US" smtClean="0"/>
              <a:t>2/2/2026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86157A-CEB9-B0FC-3A49-BE950AEA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819CA0-A57D-42D7-A625-56C22D0FA7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FF3A6F-DEFA-45E0-9496-BEE7C2C6F3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0022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7ADD9-2083-264C-A652-8D52D02F7E72}" type="datetimeFigureOut">
              <a:rPr lang="en-US" smtClean="0"/>
              <a:t>2/2/2026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DC217-DF71-1A49-B3EA-559F1F43B0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385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247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47933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7438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C85C1-95D3-DC8C-6B39-7C2EC6CBF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3A9D59-0898-EF37-10A7-6CCFF55C61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B38D47-4DD9-3A92-2682-9CAB18C650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988F2D-72BE-1215-B584-E7F0A30D26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76738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D0994-1C4E-DBD1-0FBB-D663BA6B2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F3C0C5-5E82-FB59-9F46-2548BCE7B3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268695-4C8B-7D3B-3E35-0103391532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CA62B6-CE06-C0F7-0CD5-01CA55E012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40147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8EE2B-A671-93C6-E10F-4502B5D38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960C06-2673-5142-FC47-A73AB68A30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666A8F-9800-C683-6586-70EDB22B60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97966-3512-8AFF-56BC-CAC8F59B39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67096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18E48-5DFC-B4E3-1C97-BC32CBEBE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8B0181-C40F-01D9-742A-9B7D41E02D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4A82D8-1D4D-3967-12B0-4B9DA92FFA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837CBC-ECFE-2B90-750F-10D0E9910E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8113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B2107-9391-C114-B1C4-BEA123A32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D73CD7-AAFD-0BDF-DEB6-6C48CC2C82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7934AD-35C2-6726-8641-F34E812C8A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22248B-6D3B-26DC-5D12-012458850F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4384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3D957-A2C2-3B32-123E-E4B3386FA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E39715-B91F-6A2F-FFA9-5607FD28B7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DA62D4-70A5-BA86-4CDF-14D4097A8A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93308F-DC52-2693-C451-E2C072C228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99403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B203F-E7D0-A32B-8E22-45659BCFA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2BAD84-3325-8946-0C51-966D29CE6E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9EF846-D649-2788-52C2-5947AAAC2E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5765A-8D4D-55EB-0069-A1B3BB5A5C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9319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2B26F-B520-5240-75B7-D525B9A59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FCE19A-D7C3-9F48-2664-060F286B41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8199D4-6A8A-FB0E-5835-E8F18EF8C3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DED298-80B1-76AD-C00A-A583E82042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8608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6997D-5D53-15B3-6DC2-0362BCBB6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5E37AD-1486-6271-12E6-CF473F8E59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735921-F146-DC90-CFAC-8F23D2A888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1E144D-4DB1-22FB-767E-327CE9984A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13401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C7B11-B43A-A6A4-DF05-6875DE6E7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D3F959-8977-F908-EA1F-D20B89A7D7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F951DB-E7E0-71D5-2B18-E8BD0A09CE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ECF7E4-C077-F0BA-C3AE-97C51D46AC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03580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08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3537B6D-42A5-F449-2691-321A167F7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3419"/>
            <a:ext cx="12192000" cy="6861419"/>
            <a:chOff x="0" y="-3419"/>
            <a:chExt cx="12192000" cy="686141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02465C8-266D-104C-9C49-323DF4A8277E}"/>
                </a:ext>
              </a:extLst>
            </p:cNvPr>
            <p:cNvSpPr/>
            <p:nvPr userDrawn="1"/>
          </p:nvSpPr>
          <p:spPr>
            <a:xfrm>
              <a:off x="583746" y="4960030"/>
              <a:ext cx="1551214" cy="1551214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7979A1C-BF60-B345-A664-2E4F7A3461EB}"/>
                </a:ext>
              </a:extLst>
            </p:cNvPr>
            <p:cNvSpPr/>
            <p:nvPr userDrawn="1"/>
          </p:nvSpPr>
          <p:spPr>
            <a:xfrm>
              <a:off x="1" y="4571999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58080B3E-915C-2D4C-8608-596E1BFD6387}"/>
                </a:ext>
              </a:extLst>
            </p:cNvPr>
            <p:cNvSpPr/>
            <p:nvPr userDrawn="1"/>
          </p:nvSpPr>
          <p:spPr>
            <a:xfrm>
              <a:off x="1" y="5739492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-3419"/>
              <a:ext cx="3927573" cy="3165022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9E240E8A-950E-7946-826C-415CB5DACA43}"/>
                </a:ext>
              </a:extLst>
            </p:cNvPr>
            <p:cNvSpPr/>
            <p:nvPr userDrawn="1"/>
          </p:nvSpPr>
          <p:spPr>
            <a:xfrm>
              <a:off x="11024507" y="4580708"/>
              <a:ext cx="1167493" cy="2277292"/>
            </a:xfrm>
            <a:custGeom>
              <a:avLst/>
              <a:gdLst>
                <a:gd name="connsiteX0" fmla="*/ 1167473 w 1167493"/>
                <a:gd name="connsiteY0" fmla="*/ 0 h 2272167"/>
                <a:gd name="connsiteX1" fmla="*/ 1167493 w 1167493"/>
                <a:gd name="connsiteY1" fmla="*/ 0 h 2272167"/>
                <a:gd name="connsiteX2" fmla="*/ 1167493 w 1167493"/>
                <a:gd name="connsiteY2" fmla="*/ 492960 h 2272167"/>
                <a:gd name="connsiteX3" fmla="*/ 1167493 w 1167493"/>
                <a:gd name="connsiteY3" fmla="*/ 720385 h 2272167"/>
                <a:gd name="connsiteX4" fmla="*/ 1167493 w 1167493"/>
                <a:gd name="connsiteY4" fmla="*/ 2272167 h 2272167"/>
                <a:gd name="connsiteX5" fmla="*/ 0 w 1167493"/>
                <a:gd name="connsiteY5" fmla="*/ 2272167 h 2272167"/>
                <a:gd name="connsiteX6" fmla="*/ 0 w 1167493"/>
                <a:gd name="connsiteY6" fmla="*/ 1898074 h 2272167"/>
                <a:gd name="connsiteX7" fmla="*/ 0 w 1167493"/>
                <a:gd name="connsiteY7" fmla="*/ 1271597 h 2272167"/>
                <a:gd name="connsiteX8" fmla="*/ 0 w 1167493"/>
                <a:gd name="connsiteY8" fmla="*/ 1177688 h 2272167"/>
                <a:gd name="connsiteX9" fmla="*/ 1048124 w 1167493"/>
                <a:gd name="connsiteY9" fmla="*/ 6080 h 2272167"/>
                <a:gd name="connsiteX10" fmla="*/ 1167473 w 1167493"/>
                <a:gd name="connsiteY10" fmla="*/ 0 h 2272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7493" h="2272167">
                  <a:moveTo>
                    <a:pt x="1167473" y="0"/>
                  </a:moveTo>
                  <a:lnTo>
                    <a:pt x="1167493" y="0"/>
                  </a:lnTo>
                  <a:lnTo>
                    <a:pt x="1167493" y="492960"/>
                  </a:lnTo>
                  <a:lnTo>
                    <a:pt x="1167493" y="720385"/>
                  </a:lnTo>
                  <a:lnTo>
                    <a:pt x="1167493" y="2272167"/>
                  </a:lnTo>
                  <a:lnTo>
                    <a:pt x="0" y="2272167"/>
                  </a:lnTo>
                  <a:lnTo>
                    <a:pt x="0" y="1898074"/>
                  </a:lnTo>
                  <a:lnTo>
                    <a:pt x="0" y="1271597"/>
                  </a:lnTo>
                  <a:lnTo>
                    <a:pt x="0" y="1177688"/>
                  </a:lnTo>
                  <a:cubicBezTo>
                    <a:pt x="0" y="567919"/>
                    <a:pt x="459408" y="66389"/>
                    <a:pt x="1048124" y="6080"/>
                  </a:cubicBezTo>
                  <a:lnTo>
                    <a:pt x="116747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3" y="232913"/>
            <a:ext cx="7096933" cy="3830130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8864" y="102021"/>
            <a:ext cx="9779183" cy="174441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58865" y="2017467"/>
            <a:ext cx="9779182" cy="3366815"/>
          </a:xfrm>
        </p:spPr>
        <p:txBody>
          <a:bodyPr>
            <a:norm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71600"/>
            <a:ext cx="5486400" cy="4114800"/>
          </a:xfrm>
        </p:spPr>
        <p:txBody>
          <a:bodyPr anchor="ctr" anchorCtr="0">
            <a:noAutofit/>
          </a:bodyPr>
          <a:lstStyle>
            <a:lvl1pPr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124234B-E1C4-2616-9993-A23142AA69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83438" y="1168400"/>
            <a:ext cx="4500562" cy="452120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26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Lef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0" y="457200"/>
            <a:ext cx="5120640" cy="3200400"/>
          </a:xfrm>
        </p:spPr>
        <p:txBody>
          <a:bodyPr anchor="b" anchorCtr="0">
            <a:noAutofit/>
          </a:bodyPr>
          <a:lstStyle>
            <a:lvl1pPr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63DBBF-E63D-81E5-E7CE-32F6F2C2F93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43598" y="3657600"/>
            <a:ext cx="5120640" cy="18288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32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64033732-ADA1-C540-7276-3FF5CDEF2C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4238" y="1157224"/>
            <a:ext cx="4500562" cy="452120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856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208822" cy="6858003"/>
            <a:chOff x="0" y="-1"/>
            <a:chExt cx="12208822" cy="685800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734DEB1-EC02-2E42-9292-4ADD115060A5}"/>
                </a:ext>
              </a:extLst>
            </p:cNvPr>
            <p:cNvSpPr/>
            <p:nvPr userDrawn="1"/>
          </p:nvSpPr>
          <p:spPr>
            <a:xfrm rot="5400000" flipH="1" flipV="1">
              <a:off x="10344100" y="438098"/>
              <a:ext cx="2285999" cy="1409801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085"/>
            <a:ext cx="9779183" cy="160083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EED44-783E-8705-4119-D7E9F7D4F2B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166087" y="2652713"/>
            <a:ext cx="9780587" cy="3436936"/>
          </a:xfrm>
        </p:spPr>
        <p:txBody>
          <a:bodyPr>
            <a:normAutofit/>
          </a:bodyPr>
          <a:lstStyle>
            <a:lvl1pPr marL="3429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109728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3716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176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5FBCE6F-2AA9-31FE-8148-33B480735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067EACEC-C2DD-EA42-8504-176673AD1F20}"/>
                </a:ext>
              </a:extLst>
            </p:cNvPr>
            <p:cNvSpPr/>
            <p:nvPr userDrawn="1"/>
          </p:nvSpPr>
          <p:spPr>
            <a:xfrm>
              <a:off x="0" y="0"/>
              <a:ext cx="8025490" cy="6858000"/>
            </a:xfrm>
            <a:custGeom>
              <a:avLst/>
              <a:gdLst>
                <a:gd name="connsiteX0" fmla="*/ 0 w 8025490"/>
                <a:gd name="connsiteY0" fmla="*/ 0 h 6858000"/>
                <a:gd name="connsiteX1" fmla="*/ 4596490 w 8025490"/>
                <a:gd name="connsiteY1" fmla="*/ 0 h 6858000"/>
                <a:gd name="connsiteX2" fmla="*/ 8025490 w 8025490"/>
                <a:gd name="connsiteY2" fmla="*/ 3429000 h 6858000"/>
                <a:gd name="connsiteX3" fmla="*/ 4596490 w 8025490"/>
                <a:gd name="connsiteY3" fmla="*/ 6858000 h 6858000"/>
                <a:gd name="connsiteX4" fmla="*/ 0 w 8025490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25490" h="6858000">
                  <a:moveTo>
                    <a:pt x="0" y="0"/>
                  </a:moveTo>
                  <a:lnTo>
                    <a:pt x="4596490" y="0"/>
                  </a:lnTo>
                  <a:cubicBezTo>
                    <a:pt x="6490274" y="0"/>
                    <a:pt x="8025490" y="1535216"/>
                    <a:pt x="8025490" y="3429000"/>
                  </a:cubicBezTo>
                  <a:cubicBezTo>
                    <a:pt x="8025490" y="5322784"/>
                    <a:pt x="6490274" y="6858000"/>
                    <a:pt x="4596490" y="6858000"/>
                  </a:cubicBez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9843C7E-5704-7A46-8974-F3BFA42E7310}"/>
                </a:ext>
              </a:extLst>
            </p:cNvPr>
            <p:cNvGrpSpPr/>
            <p:nvPr userDrawn="1"/>
          </p:nvGrpSpPr>
          <p:grpSpPr>
            <a:xfrm rot="16200000">
              <a:off x="8286528" y="2207195"/>
              <a:ext cx="3032351" cy="2443610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0B179973-08D2-EF40-B516-35E75E906394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C811FF3-E48A-194D-8022-65F8C3A17449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177553"/>
            <a:ext cx="6245912" cy="3269447"/>
          </a:xfrm>
        </p:spPr>
        <p:txBody>
          <a:bodyPr bIns="0" anchor="b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4" y="3492896"/>
            <a:ext cx="6245912" cy="912850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14DB56B5-5DD7-95E3-52B2-EDC4B3F13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601200" cy="1653371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843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A0E8D4A-B13C-C7EE-5E27-278124A12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1999" cy="6857999"/>
            <a:chOff x="1" y="1"/>
            <a:chExt cx="12191999" cy="685799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rot="5400000" flipH="1">
              <a:off x="1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69008"/>
            <a:ext cx="9779183" cy="1706563"/>
          </a:xfrm>
        </p:spPr>
        <p:txBody>
          <a:bodyPr anchor="b">
            <a:noAutofit/>
          </a:bodyPr>
          <a:lstStyle>
            <a:lvl1pPr>
              <a:defRPr sz="4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26B296A-EB6A-9BE9-E813-B15C46524F4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530352" indent="-530352">
              <a:spcBef>
                <a:spcPts val="1000"/>
              </a:spcBef>
              <a:buFont typeface="+mj-lt"/>
              <a:buAutoNum type="arabicPeriod"/>
              <a:defRPr sz="2000">
                <a:solidFill>
                  <a:schemeClr val="bg1"/>
                </a:solidFill>
                <a:latin typeface="+mn-lt"/>
              </a:defRPr>
            </a:lvl1pPr>
            <a:lvl2pPr marL="1097280" indent="-530352">
              <a:spcBef>
                <a:spcPts val="1000"/>
              </a:spcBef>
              <a:buFont typeface="+mj-lt"/>
              <a:buAutoNum type="alphaLcPeriod"/>
              <a:defRPr sz="2000">
                <a:solidFill>
                  <a:schemeClr val="bg1"/>
                </a:solidFill>
                <a:latin typeface="+mn-lt"/>
              </a:defRPr>
            </a:lvl2pPr>
            <a:lvl3pPr marL="1645920" indent="-530352">
              <a:spcBef>
                <a:spcPts val="1000"/>
              </a:spcBef>
              <a:buFont typeface="+mj-lt"/>
              <a:buAutoNum type="arabicParenR"/>
              <a:defRPr sz="2000">
                <a:solidFill>
                  <a:schemeClr val="bg1"/>
                </a:solidFill>
                <a:latin typeface="+mn-lt"/>
              </a:defRPr>
            </a:lvl3pPr>
            <a:lvl4pPr marL="1920240" indent="-530352">
              <a:spcBef>
                <a:spcPts val="1000"/>
              </a:spcBef>
              <a:buFont typeface="+mj-lt"/>
              <a:buAutoNum type="alphaLcParenR"/>
              <a:defRPr sz="2000">
                <a:solidFill>
                  <a:schemeClr val="bg1"/>
                </a:solidFill>
                <a:latin typeface="+mn-lt"/>
              </a:defRPr>
            </a:lvl4pPr>
            <a:lvl5pPr marL="2560320" indent="-514350">
              <a:spcBef>
                <a:spcPts val="1000"/>
              </a:spcBef>
              <a:buFont typeface="+mj-lt"/>
              <a:buAutoNum type="romanLcPeriod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435B7D5-E7F8-1267-8942-3C97BE836B9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426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art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779183" cy="1570038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4832"/>
            <a:ext cx="9779182" cy="336681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8AD52EA-B01E-8D38-D87A-BF7EB5B58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192001" cy="6864796"/>
            <a:chOff x="0" y="-1"/>
            <a:chExt cx="12192001" cy="686479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AC79249-FDC0-364D-A734-AE1DE1605D28}"/>
                </a:ext>
              </a:extLst>
            </p:cNvPr>
            <p:cNvSpPr/>
            <p:nvPr userDrawn="1"/>
          </p:nvSpPr>
          <p:spPr>
            <a:xfrm>
              <a:off x="8264426" y="0"/>
              <a:ext cx="3927574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3685939"/>
              <a:ext cx="3927573" cy="3178856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9563C76-BC00-DE47-88F5-C24D3CE3325A}"/>
                </a:ext>
              </a:extLst>
            </p:cNvPr>
            <p:cNvSpPr/>
            <p:nvPr userDrawn="1"/>
          </p:nvSpPr>
          <p:spPr>
            <a:xfrm>
              <a:off x="10228214" y="-1"/>
              <a:ext cx="1963787" cy="3178856"/>
            </a:xfrm>
            <a:custGeom>
              <a:avLst/>
              <a:gdLst>
                <a:gd name="connsiteX0" fmla="*/ 0 w 1963787"/>
                <a:gd name="connsiteY0" fmla="*/ 0 h 3178856"/>
                <a:gd name="connsiteX1" fmla="*/ 1963787 w 1963787"/>
                <a:gd name="connsiteY1" fmla="*/ 0 h 3178856"/>
                <a:gd name="connsiteX2" fmla="*/ 1963787 w 1963787"/>
                <a:gd name="connsiteY2" fmla="*/ 1967129 h 3178856"/>
                <a:gd name="connsiteX3" fmla="*/ 1963787 w 1963787"/>
                <a:gd name="connsiteY3" fmla="*/ 2349671 h 3178856"/>
                <a:gd name="connsiteX4" fmla="*/ 1963787 w 1963787"/>
                <a:gd name="connsiteY4" fmla="*/ 3178856 h 3178856"/>
                <a:gd name="connsiteX5" fmla="*/ 1963753 w 1963787"/>
                <a:gd name="connsiteY5" fmla="*/ 3178856 h 3178856"/>
                <a:gd name="connsiteX6" fmla="*/ 1763002 w 1963787"/>
                <a:gd name="connsiteY6" fmla="*/ 3168629 h 3178856"/>
                <a:gd name="connsiteX7" fmla="*/ 0 w 1963787"/>
                <a:gd name="connsiteY7" fmla="*/ 1197921 h 3178856"/>
                <a:gd name="connsiteX8" fmla="*/ 0 w 1963787"/>
                <a:gd name="connsiteY8" fmla="*/ 1039961 h 3178856"/>
                <a:gd name="connsiteX9" fmla="*/ 0 w 1963787"/>
                <a:gd name="connsiteY9" fmla="*/ 0 h 3178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63787" h="3178856">
                  <a:moveTo>
                    <a:pt x="0" y="0"/>
                  </a:moveTo>
                  <a:lnTo>
                    <a:pt x="1963787" y="0"/>
                  </a:lnTo>
                  <a:lnTo>
                    <a:pt x="1963787" y="1967129"/>
                  </a:lnTo>
                  <a:lnTo>
                    <a:pt x="1963787" y="2349671"/>
                  </a:lnTo>
                  <a:lnTo>
                    <a:pt x="1963787" y="3178856"/>
                  </a:lnTo>
                  <a:lnTo>
                    <a:pt x="1963753" y="3178856"/>
                  </a:lnTo>
                  <a:lnTo>
                    <a:pt x="1763002" y="3168629"/>
                  </a:lnTo>
                  <a:cubicBezTo>
                    <a:pt x="772749" y="3067186"/>
                    <a:pt x="0" y="2223585"/>
                    <a:pt x="0" y="1197921"/>
                  </a:cubicBezTo>
                  <a:lnTo>
                    <a:pt x="0" y="1039961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252549"/>
            <a:ext cx="6220278" cy="3262811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3" y="3685939"/>
            <a:ext cx="6220277" cy="2919512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74" r:id="rId4"/>
    <p:sldLayoutId id="2147483671" r:id="rId5"/>
    <p:sldLayoutId id="2147483659" r:id="rId6"/>
    <p:sldLayoutId id="2147483668" r:id="rId7"/>
    <p:sldLayoutId id="2147483669" r:id="rId8"/>
    <p:sldLayoutId id="2147483661" r:id="rId9"/>
    <p:sldLayoutId id="2147483666" r:id="rId10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lucid.app/lucidchart/d744c3fc-d071-4756-96c3-e97d2b9a6e2d/edit?viewport_loc=389%2C-263%2C1928%2C1024%2CFiMrvgSi_Nte&amp;invitationId=inv_b2f3ff3a-27df-42df-9f6e-c0156ede45d1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197" y="394958"/>
            <a:ext cx="9191849" cy="4096019"/>
          </a:xfrm>
        </p:spPr>
        <p:txBody>
          <a:bodyPr/>
          <a:lstStyle/>
          <a:p>
            <a:pPr algn="ctr"/>
            <a:r>
              <a:rPr lang="en-US" dirty="0">
                <a:latin typeface="MS Gothic" panose="020B0609070205080204" pitchFamily="49" charset="-128"/>
                <a:ea typeface="MS Gothic" panose="020B0609070205080204" pitchFamily="49" charset="-128"/>
              </a:rPr>
              <a:t>CSE326: INFORMATION </a:t>
            </a:r>
            <a:br>
              <a:rPr lang="en-US" dirty="0">
                <a:latin typeface="MS Gothic" panose="020B0609070205080204" pitchFamily="49" charset="-128"/>
                <a:ea typeface="MS Gothic" panose="020B0609070205080204" pitchFamily="49" charset="-128"/>
              </a:rPr>
            </a:br>
            <a:r>
              <a:rPr lang="en-US" dirty="0">
                <a:latin typeface="MS Gothic" panose="020B0609070205080204" pitchFamily="49" charset="-128"/>
                <a:ea typeface="MS Gothic" panose="020B0609070205080204" pitchFamily="49" charset="-128"/>
              </a:rPr>
              <a:t>SYSTEM DESIGN SESSIONAL</a:t>
            </a:r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102021"/>
            <a:ext cx="9779183" cy="1744415"/>
          </a:xfrm>
        </p:spPr>
        <p:txBody>
          <a:bodyPr/>
          <a:lstStyle/>
          <a:p>
            <a:r>
              <a:rPr lang="en-US" dirty="0"/>
              <a:t>B1 Group-2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5" y="2017467"/>
            <a:ext cx="9779182" cy="33668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2105063 – Ramisa Tasnia</a:t>
            </a:r>
          </a:p>
          <a:p>
            <a:r>
              <a:rPr lang="en-US" dirty="0"/>
              <a:t>2105068 – Anika Morshed</a:t>
            </a:r>
          </a:p>
          <a:p>
            <a:r>
              <a:rPr lang="en-US" dirty="0"/>
              <a:t>2105071 – Tanzim </a:t>
            </a:r>
            <a:r>
              <a:rPr lang="en-US" dirty="0" err="1"/>
              <a:t>Tousif</a:t>
            </a:r>
            <a:endParaRPr lang="en-US" dirty="0"/>
          </a:p>
          <a:p>
            <a:r>
              <a:rPr lang="en-US" dirty="0">
                <a:solidFill>
                  <a:srgbClr val="0068FF"/>
                </a:solidFill>
              </a:rPr>
              <a:t>2105081 – Diganta Saha Tirtha</a:t>
            </a:r>
          </a:p>
          <a:p>
            <a:r>
              <a:rPr lang="en-US" dirty="0"/>
              <a:t>2105082 – </a:t>
            </a:r>
            <a:r>
              <a:rPr lang="en-US" dirty="0" err="1"/>
              <a:t>Jahedul</a:t>
            </a:r>
            <a:r>
              <a:rPr lang="en-US" dirty="0"/>
              <a:t> Islam Nayeem</a:t>
            </a:r>
          </a:p>
          <a:p>
            <a:r>
              <a:rPr lang="en-US" dirty="0"/>
              <a:t>2105084 – Dibya Jyoti Sarkar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FF5EE67-DE83-C00F-F31C-58A2B4623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6813" y="577521"/>
            <a:ext cx="9779183" cy="1600835"/>
          </a:xfrm>
        </p:spPr>
        <p:txBody>
          <a:bodyPr/>
          <a:lstStyle/>
          <a:p>
            <a:pPr fontAlgn="base">
              <a:spcBef>
                <a:spcPts val="0"/>
              </a:spcBef>
            </a:pPr>
            <a:r>
              <a:rPr lang="en-US" sz="4400" dirty="0">
                <a:solidFill>
                  <a:srgbClr val="1F1F1F"/>
                </a:solidFill>
                <a:latin typeface="Century Gothic" panose="020B0502020202020204" pitchFamily="34" charset="0"/>
              </a:rPr>
              <a:t>4 core features of </a:t>
            </a:r>
            <a:br>
              <a:rPr lang="en-US" sz="4400" dirty="0">
                <a:solidFill>
                  <a:srgbClr val="1F1F1F"/>
                </a:solidFill>
                <a:latin typeface="Century Gothic" panose="020B0502020202020204" pitchFamily="34" charset="0"/>
              </a:rPr>
            </a:br>
            <a:r>
              <a:rPr lang="en-US" sz="4400" dirty="0">
                <a:solidFill>
                  <a:srgbClr val="1D68FF"/>
                </a:solidFill>
                <a:latin typeface="Century Gothic" panose="020B0502020202020204" pitchFamily="34" charset="0"/>
              </a:rPr>
              <a:t>Hotel Booking</a:t>
            </a:r>
            <a:br>
              <a:rPr lang="en-US" sz="4400" dirty="0">
                <a:solidFill>
                  <a:srgbClr val="1D68FF"/>
                </a:solidFill>
                <a:latin typeface="Century Gothic" panose="020B0502020202020204" pitchFamily="34" charset="0"/>
              </a:rPr>
            </a:br>
            <a:r>
              <a:rPr lang="en-US" sz="4400" dirty="0">
                <a:solidFill>
                  <a:srgbClr val="1F1F1F"/>
                </a:solidFill>
                <a:latin typeface="Century Gothic" panose="020B0502020202020204" pitchFamily="34" charset="0"/>
              </a:rPr>
              <a:t>Module: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7743C-9A64-6DD7-26EC-7870E2484D2F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1166813" y="2652713"/>
            <a:ext cx="9780587" cy="3436937"/>
          </a:xfrm>
        </p:spPr>
        <p:txBody>
          <a:bodyPr>
            <a:normAutofit/>
          </a:bodyPr>
          <a:lstStyle/>
          <a:p>
            <a:pPr fontAlgn="base">
              <a:spcBef>
                <a:spcPts val="0"/>
              </a:spcBef>
            </a:pPr>
            <a:r>
              <a:rPr lang="en-US" sz="2800" dirty="0"/>
              <a:t>Searching and availability checking</a:t>
            </a:r>
          </a:p>
          <a:p>
            <a:pPr fontAlgn="base">
              <a:spcBef>
                <a:spcPts val="0"/>
              </a:spcBef>
            </a:pPr>
            <a:endParaRPr lang="en-US" sz="2800" dirty="0"/>
          </a:p>
          <a:p>
            <a:pPr fontAlgn="base">
              <a:spcBef>
                <a:spcPts val="0"/>
              </a:spcBef>
            </a:pPr>
            <a:r>
              <a:rPr lang="en-US" sz="2800" dirty="0"/>
              <a:t>Reviews and ratings</a:t>
            </a:r>
          </a:p>
          <a:p>
            <a:pPr fontAlgn="base">
              <a:spcBef>
                <a:spcPts val="0"/>
              </a:spcBef>
            </a:pPr>
            <a:endParaRPr lang="en-US" sz="2800" dirty="0"/>
          </a:p>
          <a:p>
            <a:pPr fontAlgn="base">
              <a:spcBef>
                <a:spcPts val="0"/>
              </a:spcBef>
            </a:pPr>
            <a:r>
              <a:rPr lang="en-US" sz="2800" dirty="0" err="1"/>
              <a:t>Favourites</a:t>
            </a:r>
            <a:r>
              <a:rPr lang="en-US" sz="2800" dirty="0"/>
              <a:t> and booking history</a:t>
            </a:r>
          </a:p>
          <a:p>
            <a:pPr fontAlgn="base">
              <a:spcBef>
                <a:spcPts val="0"/>
              </a:spcBef>
            </a:pPr>
            <a:endParaRPr lang="en-US" sz="2800" dirty="0"/>
          </a:p>
          <a:p>
            <a:pPr fontAlgn="base">
              <a:spcBef>
                <a:spcPts val="0"/>
              </a:spcBef>
            </a:pPr>
            <a:r>
              <a:rPr lang="en-US" sz="2800" dirty="0"/>
              <a:t>Booking confirmation and cancellation</a:t>
            </a:r>
          </a:p>
        </p:txBody>
      </p:sp>
    </p:spTree>
    <p:extLst>
      <p:ext uri="{BB962C8B-B14F-4D97-AF65-F5344CB8AC3E}">
        <p14:creationId xmlns:p14="http://schemas.microsoft.com/office/powerpoint/2010/main" val="2529338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EE190-899A-46D2-989D-C4BC6A46F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5367" y="1059083"/>
            <a:ext cx="5120640" cy="3200400"/>
          </a:xfrm>
        </p:spPr>
        <p:txBody>
          <a:bodyPr/>
          <a:lstStyle/>
          <a:p>
            <a:r>
              <a:rPr lang="en-US" dirty="0"/>
              <a:t>Collaboration</a:t>
            </a:r>
            <a:br>
              <a:rPr lang="en-US" dirty="0"/>
            </a:br>
            <a:r>
              <a:rPr lang="en-US" dirty="0"/>
              <a:t>Diagram</a:t>
            </a:r>
          </a:p>
        </p:txBody>
      </p:sp>
    </p:spTree>
    <p:extLst>
      <p:ext uri="{BB962C8B-B14F-4D97-AF65-F5344CB8AC3E}">
        <p14:creationId xmlns:p14="http://schemas.microsoft.com/office/powerpoint/2010/main" val="779750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4D76B-D7B5-C04F-1B09-2BF239B48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4C210-8D91-970C-D466-93AE223AA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220" y="2298587"/>
            <a:ext cx="3964578" cy="1872534"/>
          </a:xfrm>
        </p:spPr>
        <p:txBody>
          <a:bodyPr/>
          <a:lstStyle/>
          <a:p>
            <a:r>
              <a:rPr lang="en-US" sz="4800" dirty="0"/>
              <a:t>Search &amp;</a:t>
            </a:r>
            <a:br>
              <a:rPr lang="en-US" sz="4800" dirty="0"/>
            </a:br>
            <a:r>
              <a:rPr lang="en-US" sz="4800" dirty="0"/>
              <a:t>Add to</a:t>
            </a:r>
            <a:br>
              <a:rPr lang="en-US" sz="4800" dirty="0"/>
            </a:br>
            <a:r>
              <a:rPr lang="en-US" sz="4800" dirty="0" err="1"/>
              <a:t>Favourites</a:t>
            </a:r>
            <a:endParaRPr lang="en-US" sz="4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92E5E3-1763-232B-36FF-2C1E0AAAEB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4538" y="474455"/>
            <a:ext cx="8321098" cy="5909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468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55198-317B-DC99-8364-9A1D6D334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4342D-C4B2-6FDB-5D3E-53FD600BF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220" y="2298587"/>
            <a:ext cx="3964578" cy="1872534"/>
          </a:xfrm>
        </p:spPr>
        <p:txBody>
          <a:bodyPr/>
          <a:lstStyle/>
          <a:p>
            <a:r>
              <a:rPr lang="en-US" sz="4800" dirty="0"/>
              <a:t>Check Availability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65DFCF-56E8-D551-76F3-39BD9EB12F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2836" y="556299"/>
            <a:ext cx="7581802" cy="5745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8324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2BF63-2810-CE0C-A36A-98E983DC5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8A7F0-139B-F3AF-DC90-866979615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220" y="2298587"/>
            <a:ext cx="3964578" cy="1872534"/>
          </a:xfrm>
        </p:spPr>
        <p:txBody>
          <a:bodyPr/>
          <a:lstStyle/>
          <a:p>
            <a:r>
              <a:rPr lang="en-US" sz="4800" dirty="0"/>
              <a:t>Viewing &amp; </a:t>
            </a:r>
            <a:br>
              <a:rPr lang="en-US" sz="4800" dirty="0"/>
            </a:br>
            <a:r>
              <a:rPr lang="en-US" sz="4800" dirty="0"/>
              <a:t>Adding</a:t>
            </a:r>
            <a:br>
              <a:rPr lang="en-US" sz="4800" dirty="0"/>
            </a:br>
            <a:r>
              <a:rPr lang="en-US" sz="4800" dirty="0"/>
              <a:t>Reviews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2D5291C-0234-CF2E-3F38-54862E92B1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7895" y="457200"/>
            <a:ext cx="8921720" cy="5798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7311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6F8B6-9B0B-D8D1-432B-3F1C74E98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19967-08E9-E394-0419-6F95BDDDC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220" y="2298587"/>
            <a:ext cx="3964578" cy="1872534"/>
          </a:xfrm>
        </p:spPr>
        <p:txBody>
          <a:bodyPr/>
          <a:lstStyle/>
          <a:p>
            <a:r>
              <a:rPr lang="en-US" sz="4800" dirty="0"/>
              <a:t>Viewing &amp; </a:t>
            </a:r>
            <a:br>
              <a:rPr lang="en-US" sz="4800" dirty="0"/>
            </a:br>
            <a:r>
              <a:rPr lang="en-US" sz="4800" dirty="0"/>
              <a:t>Adding</a:t>
            </a:r>
            <a:br>
              <a:rPr lang="en-US" sz="4800" dirty="0"/>
            </a:br>
            <a:r>
              <a:rPr lang="en-US" sz="4800" dirty="0"/>
              <a:t>Ratings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1A192E9-9ABC-C08E-2A00-CEA7C4F022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2000" y="551501"/>
            <a:ext cx="7843573" cy="5596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4608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D53E3-10DF-5D17-BA6C-3C7FE9D8A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3C214-2233-3574-54D0-33456468A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7162" y="-294142"/>
            <a:ext cx="3964578" cy="1872534"/>
          </a:xfrm>
        </p:spPr>
        <p:txBody>
          <a:bodyPr/>
          <a:lstStyle/>
          <a:p>
            <a:r>
              <a:rPr lang="en-US" sz="4800" dirty="0"/>
              <a:t>Payment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240AA0-9944-1045-FF99-D31158EF20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738" y="1241999"/>
            <a:ext cx="10876085" cy="4074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6241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86CFA-63AB-9D7B-08BB-2DBC56594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93B6B-56FB-01E9-D29E-515890997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3005" y="-409890"/>
            <a:ext cx="6118706" cy="2041919"/>
          </a:xfrm>
        </p:spPr>
        <p:txBody>
          <a:bodyPr/>
          <a:lstStyle/>
          <a:p>
            <a:r>
              <a:rPr lang="en-US" sz="4800" dirty="0"/>
              <a:t>Cancellation &amp; Refund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9B9453-F8F3-211D-0948-2D6B5424E2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116" y="1467557"/>
            <a:ext cx="10761785" cy="3922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5843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03292-EC7D-AA14-7E12-9B91755F7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A7479-E052-A4D2-0A97-1E383BEC3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3005" y="-409890"/>
            <a:ext cx="6118706" cy="2041919"/>
          </a:xfrm>
        </p:spPr>
        <p:txBody>
          <a:bodyPr/>
          <a:lstStyle/>
          <a:p>
            <a:r>
              <a:rPr lang="en-US" sz="4800" dirty="0"/>
              <a:t>Managing </a:t>
            </a:r>
            <a:r>
              <a:rPr lang="en-US" sz="4800" dirty="0" err="1"/>
              <a:t>Favourite</a:t>
            </a:r>
            <a:endParaRPr lang="en-US" sz="4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5323A22-4C2A-9CA1-0DC1-A2D2B797A9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7267" y="945393"/>
            <a:ext cx="7279733" cy="4490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7934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9A158-8A7B-55F0-A75D-4881FA701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89CA6-0DD8-541F-78A2-6DAF101A8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8590" y="-270994"/>
            <a:ext cx="6118706" cy="2041919"/>
          </a:xfrm>
        </p:spPr>
        <p:txBody>
          <a:bodyPr/>
          <a:lstStyle/>
          <a:p>
            <a:r>
              <a:rPr lang="en-US" sz="4800" dirty="0"/>
              <a:t>Booking History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C7F935-61C0-9E6F-B9CC-80291C615E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436" y="1125305"/>
            <a:ext cx="8269671" cy="4280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771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965B1-36C1-CDDE-CDA4-2E4E7CD99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3D36B-5EAB-7965-ED04-D25F8BB35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93" y="2408040"/>
            <a:ext cx="6118706" cy="2041919"/>
          </a:xfrm>
        </p:spPr>
        <p:txBody>
          <a:bodyPr/>
          <a:lstStyle/>
          <a:p>
            <a:r>
              <a:rPr lang="en-US" sz="4400" dirty="0"/>
              <a:t>Booking &amp; Policy Management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53B889-B982-F2D2-C131-FA0EF9C5B3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2849" y="765628"/>
            <a:ext cx="7735458" cy="5044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0792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D11B9-1C00-FB27-8F91-4B4858A0F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3B9CD-4F17-C026-B527-D773FA243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539" y="2408040"/>
            <a:ext cx="6118706" cy="2041919"/>
          </a:xfrm>
        </p:spPr>
        <p:txBody>
          <a:bodyPr/>
          <a:lstStyle/>
          <a:p>
            <a:r>
              <a:rPr lang="en-US" sz="4400" dirty="0"/>
              <a:t>Availability &amp; </a:t>
            </a:r>
            <a:br>
              <a:rPr lang="en-US" sz="4400" dirty="0"/>
            </a:br>
            <a:r>
              <a:rPr lang="en-US" sz="4400" dirty="0"/>
              <a:t>Pricing</a:t>
            </a:r>
            <a:br>
              <a:rPr lang="en-US" sz="4400" dirty="0"/>
            </a:br>
            <a:r>
              <a:rPr lang="en-US" sz="4400" dirty="0"/>
              <a:t>Management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24A7AB-5CF0-4C00-ED32-A59A58B53B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6645" y="563033"/>
            <a:ext cx="7586383" cy="5731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0212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1C753FD-96EC-101A-B8A4-5F69A189B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252549"/>
            <a:ext cx="6220278" cy="3262811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7BB04B7-47A4-741B-59E0-F0E6F2126E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3" y="3685939"/>
            <a:ext cx="6220277" cy="2919512"/>
          </a:xfrm>
        </p:spPr>
        <p:txBody>
          <a:bodyPr>
            <a:normAutofit/>
          </a:bodyPr>
          <a:lstStyle/>
          <a:p>
            <a:r>
              <a:rPr lang="en-US" dirty="0"/>
              <a:t>2105081 – Diganta Saha Tirtha</a:t>
            </a:r>
          </a:p>
          <a:p>
            <a:endParaRPr lang="en-US" dirty="0"/>
          </a:p>
          <a:p>
            <a:r>
              <a:rPr lang="en-US" dirty="0">
                <a:hlinkClick r:id="rId3" tooltip="https://lucid.app/lucidchart/d744c3fc-d071-4756-96c3-e97d2b9a6e2d/edit?viewport_loc=389%2C-263%2C1928%2C1024%2CFiMrvgSi_Nte&amp;invitationId=inv_b2f3ff3a-27df-42df-9f6e-c0156ede45d1"/>
              </a:rPr>
              <a:t>Our Diagram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67352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45331398_Win32_SL_V13" id="{C59E605D-C281-4A06-BDA0-E97A35AC3AA8}" vid="{25D1D206-DA25-4050-926A-BD6D3A1B506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1E98C35-9ECE-4425-BCBA-00E118C705C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5AA6A711-2C3F-4EC0-B88B-62D7408511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5A8381C-73EB-48EA-B45F-7B7C8C7DF409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Universal presentation</Template>
  <TotalTime>469</TotalTime>
  <Words>127</Words>
  <Application>Microsoft Office PowerPoint</Application>
  <PresentationFormat>Widescreen</PresentationFormat>
  <Paragraphs>46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MS Gothic</vt:lpstr>
      <vt:lpstr>Arial</vt:lpstr>
      <vt:lpstr>Calibri</vt:lpstr>
      <vt:lpstr>Century Gothic</vt:lpstr>
      <vt:lpstr>Tenorite</vt:lpstr>
      <vt:lpstr>Custom</vt:lpstr>
      <vt:lpstr>CSE326: INFORMATION  SYSTEM DESIGN SESSIONAL</vt:lpstr>
      <vt:lpstr>B1 Group-2</vt:lpstr>
      <vt:lpstr>4 core features of  Hotel Booking Module:</vt:lpstr>
      <vt:lpstr>Collaboration Diagram</vt:lpstr>
      <vt:lpstr>Search &amp; Add to Favourites</vt:lpstr>
      <vt:lpstr>Check Availability</vt:lpstr>
      <vt:lpstr>Viewing &amp;  Adding Reviews</vt:lpstr>
      <vt:lpstr>Viewing &amp;  Adding Ratings</vt:lpstr>
      <vt:lpstr>Payment</vt:lpstr>
      <vt:lpstr>Cancellation &amp; Refund</vt:lpstr>
      <vt:lpstr>Managing Favourite</vt:lpstr>
      <vt:lpstr>Booking History</vt:lpstr>
      <vt:lpstr>Booking &amp; Policy Management</vt:lpstr>
      <vt:lpstr>Availability &amp;  Pricing Management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Tirtha Saha</dc:creator>
  <cp:lastModifiedBy>Tirtha Saha</cp:lastModifiedBy>
  <cp:revision>7</cp:revision>
  <dcterms:created xsi:type="dcterms:W3CDTF">2026-02-01T11:58:39Z</dcterms:created>
  <dcterms:modified xsi:type="dcterms:W3CDTF">2026-02-02T08:25:00Z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